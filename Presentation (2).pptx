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3650" r:id="rId2"/>
    <p:sldMasterId id="2147483652" r:id="rId3"/>
  </p:sldMasterIdLst>
  <p:sldIdLst>
    <p:sldId id="256" r:id="rId4"/>
    <p:sldId id="264" r:id="rId5"/>
    <p:sldId id="265" r:id="rId6"/>
    <p:sldId id="259" r:id="rId7"/>
    <p:sldId id="260" r:id="rId8"/>
    <p:sldId id="261" r:id="rId9"/>
    <p:sldId id="262" r:id="rId10"/>
    <p:sldId id="263" r:id="rId11"/>
    <p:sldId id="267" r:id="rId12"/>
    <p:sldId id="266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3F8C57-157C-F698-1749-698DCD99F70C}" v="774" dt="2025-12-08T07:32:11.081"/>
    <p1510:client id="{AF340CD2-5F18-83F2-9630-AA2FCAF4074E}" v="319" dt="2025-12-08T08:08:41.6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13833" y="859991"/>
            <a:ext cx="929640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 baseline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441" y="4568599"/>
            <a:ext cx="2133600" cy="186267"/>
          </a:xfrm>
          <a:prstGeom prst="rect">
            <a:avLst/>
          </a:prstGeom>
        </p:spPr>
      </p:pic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7442" y="6131476"/>
            <a:ext cx="3221697" cy="284648"/>
          </a:xfrm>
          <a:prstGeom prst="rect">
            <a:avLst/>
          </a:prstGeom>
        </p:spPr>
      </p:pic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649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7230" y="492381"/>
            <a:ext cx="10929479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2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13833" y="2307557"/>
            <a:ext cx="10912883" cy="5482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2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609585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121917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828754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2438339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3093653"/>
            <a:ext cx="10929485" cy="3002348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26" name="Pictur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55" y="6234041"/>
            <a:ext cx="3386655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16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13833" y="859991"/>
            <a:ext cx="929640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 baseline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441" y="4568599"/>
            <a:ext cx="2133600" cy="186267"/>
          </a:xfrm>
          <a:prstGeom prst="rect">
            <a:avLst/>
          </a:prstGeom>
        </p:spPr>
      </p:pic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7442" y="6131476"/>
            <a:ext cx="3221697" cy="284648"/>
          </a:xfrm>
          <a:prstGeom prst="rect">
            <a:avLst/>
          </a:prstGeom>
        </p:spPr>
      </p:pic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3095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859991"/>
            <a:ext cx="936472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 baseline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r>
              <a:rPr lang="en-US" dirty="0"/>
              <a:t>TITLE HERE </a:t>
            </a:r>
            <a:br>
              <a:rPr lang="en-US" dirty="0"/>
            </a:br>
            <a:r>
              <a:rPr lang="en-US" dirty="0"/>
              <a:t>ENCODE NORMAL BLACK, 50 PT.</a:t>
            </a:r>
          </a:p>
        </p:txBody>
      </p:sp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441" y="4568599"/>
            <a:ext cx="2133600" cy="186267"/>
          </a:xfrm>
          <a:prstGeom prst="rect">
            <a:avLst/>
          </a:prstGeom>
        </p:spPr>
      </p:pic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1" y="6234041"/>
            <a:ext cx="3386667" cy="229748"/>
          </a:xfrm>
          <a:prstGeom prst="rect">
            <a:avLst/>
          </a:prstGeom>
        </p:spPr>
      </p:pic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491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7231" y="495348"/>
            <a:ext cx="10929485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13833" y="2307557"/>
            <a:ext cx="10912883" cy="5482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2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609585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121917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828754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2438339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3093653"/>
            <a:ext cx="10929485" cy="3002348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9" name="Pictur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49" y="6234041"/>
            <a:ext cx="3386667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240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7231" y="492978"/>
            <a:ext cx="10929485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2307557"/>
            <a:ext cx="10929485" cy="3154535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3379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4164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6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597231" y="2299970"/>
            <a:ext cx="10912883" cy="37708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="0" i="1" baseline="0">
                <a:solidFill>
                  <a:srgbClr val="FFFFFF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16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49" y="6234041"/>
            <a:ext cx="3386667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5603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13833" y="859991"/>
            <a:ext cx="936472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441" y="4568599"/>
            <a:ext cx="2133600" cy="186267"/>
          </a:xfrm>
          <a:prstGeom prst="rect">
            <a:avLst/>
          </a:prstGeom>
        </p:spPr>
      </p:pic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1" y="6132013"/>
            <a:ext cx="3233635" cy="284364"/>
          </a:xfrm>
          <a:prstGeom prst="rect">
            <a:avLst/>
          </a:prstGeom>
        </p:spPr>
      </p:pic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0282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5" y="859991"/>
            <a:ext cx="936472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441" y="4568599"/>
            <a:ext cx="2133600" cy="186267"/>
          </a:xfrm>
          <a:prstGeom prst="rect">
            <a:avLst/>
          </a:prstGeom>
        </p:spPr>
      </p:pic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7" y="6234041"/>
            <a:ext cx="3386655" cy="229748"/>
          </a:xfrm>
          <a:prstGeom prst="rect">
            <a:avLst/>
          </a:prstGeom>
        </p:spPr>
      </p:pic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910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7230" y="492381"/>
            <a:ext cx="10929479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2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13833" y="2307557"/>
            <a:ext cx="10912883" cy="5482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2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609585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121917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828754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2438339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3093653"/>
            <a:ext cx="10929485" cy="3002348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26" name="Pictur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55" y="6234041"/>
            <a:ext cx="3386655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8726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4164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22" name="Pictur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2307557"/>
            <a:ext cx="10929485" cy="3154535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204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2978"/>
            <a:ext cx="10896280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10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597231" y="2299970"/>
            <a:ext cx="10912883" cy="3948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="0" i="1" baseline="0">
                <a:solidFill>
                  <a:schemeClr val="tx1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55" y="6234041"/>
            <a:ext cx="3386655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552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62" r:id="rId2"/>
    <p:sldLayoutId id="2147483680" r:id="rId3"/>
    <p:sldLayoutId id="2147483681" r:id="rId4"/>
    <p:sldLayoutId id="2147483682" r:id="rId5"/>
    <p:sldLayoutId id="2147483674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37030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6" r:id="rId1"/>
    <p:sldLayoutId id="2147483658" r:id="rId2"/>
    <p:sldLayoutId id="2147483659" r:id="rId3"/>
    <p:sldLayoutId id="2147483660" r:id="rId4"/>
    <p:sldLayoutId id="2147483661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86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53" r:id="rId2"/>
    <p:sldLayoutId id="2147483663" r:id="rId3"/>
    <p:sldLayoutId id="2147483664" r:id="rId4"/>
    <p:sldLayoutId id="2147483665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121920" tIns="60960" rIns="121920" bIns="60960" anchor="b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latin typeface="Open Sans"/>
                <a:ea typeface="Open Sans"/>
                <a:cs typeface="Open Sans"/>
              </a:rPr>
              <a:t>Final Project:</a:t>
            </a:r>
            <a:br>
              <a:rPr lang="en-US" sz="6000" dirty="0">
                <a:latin typeface="Open Sans"/>
                <a:ea typeface="Open Sans"/>
                <a:cs typeface="Open Sans"/>
              </a:rPr>
            </a:br>
            <a:r>
              <a:rPr lang="en-US" sz="6000" dirty="0">
                <a:latin typeface="Open Sans"/>
                <a:ea typeface="Open Sans"/>
                <a:cs typeface="Open Sans"/>
              </a:rPr>
              <a:t>Maternal Health Risk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F60743-7DC2-D458-9BE0-A8C55F13EFF1}"/>
              </a:ext>
            </a:extLst>
          </p:cNvPr>
          <p:cNvSpPr txBox="1"/>
          <p:nvPr/>
        </p:nvSpPr>
        <p:spPr>
          <a:xfrm>
            <a:off x="739422" y="4879623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Open Sans"/>
                <a:ea typeface="Open Sans"/>
                <a:cs typeface="Open Sans"/>
              </a:rPr>
              <a:t>Cassidy Hay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487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EA7AC-E283-1096-6F84-B745C0970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24FEDA-BC15-5070-B04D-F2447A00E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21920" tIns="60960" rIns="121920" bIns="60960" anchor="b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Open Sans"/>
                <a:ea typeface="Open Sans"/>
                <a:cs typeface="Open Sans"/>
              </a:rPr>
              <a:t>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4A5A8-C3F4-66BA-9794-87D3C69E83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7231" y="2214423"/>
            <a:ext cx="10929485" cy="3881578"/>
          </a:xfr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2650" b="0" dirty="0">
                <a:ea typeface="+mn-lt"/>
                <a:cs typeface="+mn-lt"/>
              </a:rPr>
              <a:t>Option 3: Analyzing a dataset that uses data wrangling and modeling tools in R </a:t>
            </a:r>
            <a:endParaRPr lang="en-US" dirty="0">
              <a:ea typeface="Calibri"/>
              <a:cs typeface="Calibri"/>
            </a:endParaRPr>
          </a:p>
          <a:p>
            <a:pPr indent="-456565"/>
            <a:r>
              <a:rPr lang="en-US" sz="2650" b="0" dirty="0">
                <a:ea typeface="+mn-lt"/>
                <a:cs typeface="+mn-lt"/>
              </a:rPr>
              <a:t>Data: Dataset on maternal health risk data</a:t>
            </a:r>
            <a:endParaRPr lang="en-US" dirty="0">
              <a:ea typeface="Calibri"/>
              <a:cs typeface="Calibri"/>
            </a:endParaRPr>
          </a:p>
          <a:p>
            <a:pPr indent="-456565"/>
            <a:r>
              <a:rPr lang="en-US" sz="2650" b="0" dirty="0">
                <a:ea typeface="+mn-lt"/>
                <a:cs typeface="+mn-lt"/>
              </a:rPr>
              <a:t>Goal: Utilize the topics taught in this class to evaluate which health conditions are the strongest indications for health risks during pregnancy</a:t>
            </a:r>
            <a:endParaRPr lang="en-US" dirty="0">
              <a:ea typeface="+mn-lt"/>
              <a:cs typeface="+mn-lt"/>
            </a:endParaRPr>
          </a:p>
          <a:p>
            <a:pPr indent="-456565"/>
            <a:r>
              <a:rPr lang="en-US" sz="2650" b="0" dirty="0">
                <a:ea typeface="+mn-lt"/>
                <a:cs typeface="+mn-lt"/>
              </a:rPr>
              <a:t>Plan: Reshape the data, create a data frame, visualize the relationships, and build a linear regression model</a:t>
            </a:r>
            <a:endParaRPr lang="en-US" dirty="0">
              <a:ea typeface="+mn-lt"/>
              <a:cs typeface="+mn-lt"/>
            </a:endParaRPr>
          </a:p>
          <a:p>
            <a:pPr indent="-456565"/>
            <a:endParaRPr lang="en-US" sz="2650" b="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5893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5E5FE-9E23-0EB9-826A-934D9BCA6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9C01EB-0395-CEB5-7E25-496038802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21920" tIns="60960" rIns="121920" bIns="60960" anchor="b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Open Sans"/>
                <a:ea typeface="Open Sans"/>
                <a:cs typeface="Open Sans"/>
              </a:rPr>
              <a:t>DATA SET AND SOURCE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41EC9-6AFE-2C06-27C2-4365A1219A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7231" y="2190039"/>
            <a:ext cx="6107549" cy="3905962"/>
          </a:xfr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456565"/>
            <a:r>
              <a:rPr lang="en-US" sz="1600" b="0" dirty="0">
                <a:ea typeface="Calibri"/>
                <a:cs typeface="Calibri"/>
              </a:rPr>
              <a:t>Source: Kaggle</a:t>
            </a:r>
          </a:p>
          <a:p>
            <a:pPr indent="-456565"/>
            <a:r>
              <a:rPr lang="en-US" sz="1600" b="0" dirty="0">
                <a:ea typeface="+mn-lt"/>
                <a:cs typeface="+mn-lt"/>
              </a:rPr>
              <a:t>Data has been collected from different hospitals, community clinics, maternal health cares through the IoT based risk monitoring system.</a:t>
            </a:r>
            <a:endParaRPr lang="en-US" sz="1600" b="0" dirty="0">
              <a:ea typeface="Calibri"/>
              <a:cs typeface="Calibri"/>
            </a:endParaRPr>
          </a:p>
          <a:p>
            <a:pPr indent="-456565"/>
            <a:r>
              <a:rPr lang="en-US" sz="1600" dirty="0">
                <a:ea typeface="+mn-lt"/>
                <a:cs typeface="+mn-lt"/>
              </a:rPr>
              <a:t>Age:</a:t>
            </a:r>
            <a:r>
              <a:rPr lang="en-US" sz="1600" b="0" dirty="0">
                <a:ea typeface="+mn-lt"/>
                <a:cs typeface="+mn-lt"/>
              </a:rPr>
              <a:t> Age in years when a woman is pregnant</a:t>
            </a:r>
            <a:endParaRPr lang="en-US" sz="1600" dirty="0">
              <a:ea typeface="+mn-lt"/>
              <a:cs typeface="+mn-lt"/>
            </a:endParaRPr>
          </a:p>
          <a:p>
            <a:pPr indent="-456565"/>
            <a:r>
              <a:rPr lang="en-US" sz="1600" dirty="0" err="1">
                <a:ea typeface="+mn-lt"/>
                <a:cs typeface="+mn-lt"/>
              </a:rPr>
              <a:t>SystolicBP</a:t>
            </a:r>
            <a:r>
              <a:rPr lang="en-US" sz="1600" dirty="0">
                <a:ea typeface="+mn-lt"/>
                <a:cs typeface="+mn-lt"/>
              </a:rPr>
              <a:t>: </a:t>
            </a:r>
            <a:r>
              <a:rPr lang="en-US" sz="1600" b="0" dirty="0">
                <a:ea typeface="+mn-lt"/>
                <a:cs typeface="+mn-lt"/>
              </a:rPr>
              <a:t>Upper value of Blood Pressure in mmHg, another significant attribute during pregnancy </a:t>
            </a:r>
            <a:endParaRPr lang="en-US" sz="1600" dirty="0">
              <a:ea typeface="+mn-lt"/>
              <a:cs typeface="+mn-lt"/>
            </a:endParaRPr>
          </a:p>
          <a:p>
            <a:pPr indent="-456565"/>
            <a:r>
              <a:rPr lang="en-US" sz="1600" dirty="0" err="1">
                <a:ea typeface="+mn-lt"/>
                <a:cs typeface="+mn-lt"/>
              </a:rPr>
              <a:t>DiastolicBP</a:t>
            </a:r>
            <a:r>
              <a:rPr lang="en-US" sz="1600" dirty="0">
                <a:ea typeface="+mn-lt"/>
                <a:cs typeface="+mn-lt"/>
              </a:rPr>
              <a:t>: </a:t>
            </a:r>
            <a:r>
              <a:rPr lang="en-US" sz="1600" b="0" dirty="0">
                <a:ea typeface="+mn-lt"/>
                <a:cs typeface="+mn-lt"/>
              </a:rPr>
              <a:t>Lower value of Blood Pressure in mmHg, another significant attribute during pregnancy</a:t>
            </a:r>
            <a:endParaRPr lang="en-US" sz="1600" dirty="0">
              <a:ea typeface="+mn-lt"/>
              <a:cs typeface="+mn-lt"/>
            </a:endParaRPr>
          </a:p>
          <a:p>
            <a:pPr indent="-456565"/>
            <a:r>
              <a:rPr lang="en-US" sz="1600" dirty="0">
                <a:ea typeface="+mn-lt"/>
                <a:cs typeface="+mn-lt"/>
              </a:rPr>
              <a:t>Blood glucose: </a:t>
            </a:r>
            <a:r>
              <a:rPr lang="en-US" sz="1600" b="0" dirty="0">
                <a:ea typeface="+mn-lt"/>
                <a:cs typeface="+mn-lt"/>
              </a:rPr>
              <a:t>Blood glucose levels is in terms of a molar concentration, mmol/L.</a:t>
            </a:r>
          </a:p>
          <a:p>
            <a:pPr indent="-456565"/>
            <a:r>
              <a:rPr lang="en-US" sz="1600" dirty="0">
                <a:ea typeface="+mn-lt"/>
                <a:cs typeface="+mn-lt"/>
              </a:rPr>
              <a:t>Body temp: </a:t>
            </a:r>
            <a:r>
              <a:rPr lang="en-US" sz="1600" b="0" dirty="0">
                <a:ea typeface="+mn-lt"/>
                <a:cs typeface="+mn-lt"/>
              </a:rPr>
              <a:t>Collected in Fahrenheit</a:t>
            </a:r>
          </a:p>
          <a:p>
            <a:pPr indent="-456565"/>
            <a:r>
              <a:rPr lang="en-US" sz="1600" dirty="0" err="1">
                <a:ea typeface="+mn-lt"/>
                <a:cs typeface="+mn-lt"/>
              </a:rPr>
              <a:t>HeartRate</a:t>
            </a:r>
            <a:r>
              <a:rPr lang="en-US" sz="1600" dirty="0">
                <a:ea typeface="+mn-lt"/>
                <a:cs typeface="+mn-lt"/>
              </a:rPr>
              <a:t>: </a:t>
            </a:r>
            <a:r>
              <a:rPr lang="en-US" sz="1600" b="0" dirty="0">
                <a:ea typeface="+mn-lt"/>
                <a:cs typeface="+mn-lt"/>
              </a:rPr>
              <a:t>A normal resting heart rate in beats per minute</a:t>
            </a:r>
            <a:endParaRPr lang="en-US" sz="1600" dirty="0">
              <a:ea typeface="+mn-lt"/>
              <a:cs typeface="+mn-lt"/>
            </a:endParaRPr>
          </a:p>
          <a:p>
            <a:pPr indent="-456565"/>
            <a:r>
              <a:rPr lang="en-US" sz="1600" dirty="0">
                <a:ea typeface="+mn-lt"/>
                <a:cs typeface="+mn-lt"/>
              </a:rPr>
              <a:t>Risk Level: </a:t>
            </a:r>
            <a:r>
              <a:rPr lang="en-US" sz="1600" b="0" dirty="0">
                <a:ea typeface="+mn-lt"/>
                <a:cs typeface="+mn-lt"/>
              </a:rPr>
              <a:t>Predicted Risk Intensity Level during pregnancy considering the previous attribute</a:t>
            </a:r>
            <a:endParaRPr lang="en-US" sz="1600" dirty="0">
              <a:ea typeface="Calibri"/>
              <a:cs typeface="Calibri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024C8C-C0F2-0F6A-4767-6BFD8B4AF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565" y="2088957"/>
            <a:ext cx="4983908" cy="2687800"/>
          </a:xfrm>
          <a:prstGeom prst="rect">
            <a:avLst/>
          </a:prstGeom>
        </p:spPr>
      </p:pic>
      <p:pic>
        <p:nvPicPr>
          <p:cNvPr id="6" name="Picture 5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C6EEAB82-A303-5CB4-E679-A5CCF7C9C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75" y="5198173"/>
            <a:ext cx="5014722" cy="515493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2ABE05A-C0DC-8670-2CA4-C707C0EFF7C3}"/>
              </a:ext>
            </a:extLst>
          </p:cNvPr>
          <p:cNvSpPr/>
          <p:nvPr/>
        </p:nvSpPr>
        <p:spPr>
          <a:xfrm>
            <a:off x="6979920" y="4837176"/>
            <a:ext cx="48768" cy="4572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8DD1D00-D509-0EE3-A1B7-5A3C29E92A96}"/>
              </a:ext>
            </a:extLst>
          </p:cNvPr>
          <p:cNvSpPr/>
          <p:nvPr/>
        </p:nvSpPr>
        <p:spPr>
          <a:xfrm>
            <a:off x="6979920" y="4971287"/>
            <a:ext cx="48768" cy="4572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42F39B5-4D34-622D-C696-089670FA6C2E}"/>
              </a:ext>
            </a:extLst>
          </p:cNvPr>
          <p:cNvSpPr/>
          <p:nvPr/>
        </p:nvSpPr>
        <p:spPr>
          <a:xfrm>
            <a:off x="6979920" y="5105399"/>
            <a:ext cx="48768" cy="4572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171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236B8-092F-5D3E-604D-A093EDED1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98C764-4FDC-82E8-9076-C1C90EBD9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21920" tIns="60960" rIns="121920" bIns="60960" anchor="b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Open Sans"/>
                <a:ea typeface="Open Sans"/>
                <a:cs typeface="Open Sans"/>
              </a:rPr>
              <a:t>LOAD DATA SET AND DATA CLEANING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756F9-459E-5779-F4DD-B0E2BF3AC0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7231" y="2214423"/>
            <a:ext cx="10929485" cy="3881578"/>
          </a:xfr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456565">
              <a:buNone/>
            </a:pPr>
            <a:r>
              <a:rPr lang="en-US" sz="1400" b="0" dirty="0">
                <a:solidFill>
                  <a:srgbClr val="92D050"/>
                </a:solidFill>
                <a:ea typeface="+mn-lt"/>
                <a:cs typeface="+mn-lt"/>
              </a:rPr>
              <a:t># setting working directory and reading data from csv file</a:t>
            </a:r>
            <a:endParaRPr lang="en-US" sz="1200" dirty="0">
              <a:solidFill>
                <a:srgbClr val="92D050"/>
              </a:solidFill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 err="1">
                <a:ea typeface="+mn-lt"/>
                <a:cs typeface="+mn-lt"/>
              </a:rPr>
              <a:t>setwd</a:t>
            </a:r>
            <a:r>
              <a:rPr lang="en-US" sz="1400" b="0" dirty="0">
                <a:ea typeface="+mn-lt"/>
                <a:cs typeface="+mn-lt"/>
              </a:rPr>
              <a:t>("C:/Users/</a:t>
            </a:r>
            <a:r>
              <a:rPr lang="en-US" sz="1400" b="0" dirty="0" err="1">
                <a:ea typeface="+mn-lt"/>
                <a:cs typeface="+mn-lt"/>
              </a:rPr>
              <a:t>cassi</a:t>
            </a:r>
            <a:r>
              <a:rPr lang="en-US" sz="1400" b="0" dirty="0">
                <a:ea typeface="+mn-lt"/>
                <a:cs typeface="+mn-lt"/>
              </a:rPr>
              <a:t>/Final-Project")</a:t>
            </a:r>
            <a:endParaRPr lang="en-US" sz="1200" dirty="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 err="1">
                <a:ea typeface="+mn-lt"/>
                <a:cs typeface="+mn-lt"/>
              </a:rPr>
              <a:t>maternal_data</a:t>
            </a:r>
            <a:r>
              <a:rPr lang="en-US" sz="1400" b="0" dirty="0">
                <a:ea typeface="+mn-lt"/>
                <a:cs typeface="+mn-lt"/>
              </a:rPr>
              <a:t> &lt;- read.csv("Maternal_Health_Risk_Assessment_Original_Dataset.csv", </a:t>
            </a:r>
            <a:endParaRPr lang="en-US" sz="1200" dirty="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1400" b="0" dirty="0">
                <a:ea typeface="+mn-lt"/>
                <a:cs typeface="+mn-lt"/>
              </a:rPr>
              <a:t>                                   </a:t>
            </a:r>
            <a:r>
              <a:rPr lang="en-US" sz="1400" b="0" err="1">
                <a:ea typeface="+mn-lt"/>
                <a:cs typeface="+mn-lt"/>
              </a:rPr>
              <a:t>sep</a:t>
            </a:r>
            <a:r>
              <a:rPr lang="en-US" sz="1400" b="0" dirty="0">
                <a:ea typeface="+mn-lt"/>
                <a:cs typeface="+mn-lt"/>
              </a:rPr>
              <a:t> = ",", header = TRUE)</a:t>
            </a:r>
            <a:endParaRPr lang="en-US" sz="1200" dirty="0">
              <a:ea typeface="Calibri"/>
              <a:cs typeface="Calibri"/>
            </a:endParaRPr>
          </a:p>
          <a:p>
            <a:pPr indent="-456565">
              <a:buNone/>
            </a:pPr>
            <a:endParaRPr lang="en-US" sz="1400" b="0" dirty="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1400" b="0" dirty="0">
                <a:solidFill>
                  <a:srgbClr val="92D050"/>
                </a:solidFill>
                <a:ea typeface="+mn-lt"/>
                <a:cs typeface="+mn-lt"/>
              </a:rPr>
              <a:t># clean up the column names</a:t>
            </a:r>
            <a:endParaRPr lang="en-US" sz="1200" dirty="0">
              <a:solidFill>
                <a:srgbClr val="92D050"/>
              </a:solidFill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 err="1">
                <a:ea typeface="+mn-lt"/>
                <a:cs typeface="+mn-lt"/>
              </a:rPr>
              <a:t>setnames</a:t>
            </a:r>
            <a:r>
              <a:rPr lang="en-US" sz="1400" b="0" dirty="0">
                <a:ea typeface="+mn-lt"/>
                <a:cs typeface="+mn-lt"/>
              </a:rPr>
              <a:t>(</a:t>
            </a:r>
            <a:r>
              <a:rPr lang="en-US" sz="1400" b="0" dirty="0" err="1">
                <a:ea typeface="+mn-lt"/>
                <a:cs typeface="+mn-lt"/>
              </a:rPr>
              <a:t>maternal_data</a:t>
            </a:r>
            <a:r>
              <a:rPr lang="en-US" sz="1400" b="0" dirty="0">
                <a:ea typeface="+mn-lt"/>
                <a:cs typeface="+mn-lt"/>
              </a:rPr>
              <a:t>, "</a:t>
            </a:r>
            <a:r>
              <a:rPr lang="en-US" sz="1400" b="0" dirty="0" err="1">
                <a:ea typeface="+mn-lt"/>
                <a:cs typeface="+mn-lt"/>
              </a:rPr>
              <a:t>Blood.glucose</a:t>
            </a:r>
            <a:r>
              <a:rPr lang="en-US" sz="1400" b="0" dirty="0">
                <a:ea typeface="+mn-lt"/>
                <a:cs typeface="+mn-lt"/>
              </a:rPr>
              <a:t>", "</a:t>
            </a:r>
            <a:r>
              <a:rPr lang="en-US" sz="1400" b="0" dirty="0" err="1">
                <a:ea typeface="+mn-lt"/>
                <a:cs typeface="+mn-lt"/>
              </a:rPr>
              <a:t>BloodGlucose</a:t>
            </a:r>
            <a:r>
              <a:rPr lang="en-US" sz="1400" b="0" dirty="0">
                <a:ea typeface="+mn-lt"/>
                <a:cs typeface="+mn-lt"/>
              </a:rPr>
              <a:t>")</a:t>
            </a:r>
            <a:endParaRPr lang="en-US" sz="1200" dirty="0">
              <a:ea typeface="Calibri"/>
              <a:cs typeface="Calibri"/>
            </a:endParaRPr>
          </a:p>
          <a:p>
            <a:pPr indent="-456565">
              <a:buNone/>
            </a:pPr>
            <a:endParaRPr lang="en-US" sz="120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>
                <a:solidFill>
                  <a:srgbClr val="92D050"/>
                </a:solidFill>
                <a:ea typeface="+mn-lt"/>
                <a:cs typeface="+mn-lt"/>
              </a:rPr>
              <a:t># convert to data table</a:t>
            </a:r>
            <a:endParaRPr lang="en-US" sz="1200" dirty="0">
              <a:solidFill>
                <a:srgbClr val="92D050"/>
              </a:solidFill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>
                <a:ea typeface="+mn-lt"/>
                <a:cs typeface="+mn-lt"/>
              </a:rPr>
              <a:t>library(</a:t>
            </a:r>
            <a:r>
              <a:rPr lang="en-US" sz="1400" b="0" dirty="0" err="1">
                <a:ea typeface="+mn-lt"/>
                <a:cs typeface="+mn-lt"/>
              </a:rPr>
              <a:t>data.table</a:t>
            </a:r>
            <a:r>
              <a:rPr lang="en-US" sz="1400" b="0" dirty="0">
                <a:ea typeface="+mn-lt"/>
                <a:cs typeface="+mn-lt"/>
              </a:rPr>
              <a:t>)</a:t>
            </a:r>
            <a:endParaRPr lang="en-US" sz="1200" dirty="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 err="1">
                <a:ea typeface="+mn-lt"/>
                <a:cs typeface="+mn-lt"/>
              </a:rPr>
              <a:t>maternal_dt</a:t>
            </a:r>
            <a:r>
              <a:rPr lang="en-US" sz="1400" b="0" dirty="0">
                <a:ea typeface="+mn-lt"/>
                <a:cs typeface="+mn-lt"/>
              </a:rPr>
              <a:t> &lt;- </a:t>
            </a:r>
            <a:r>
              <a:rPr lang="en-US" sz="1400" b="0" dirty="0" err="1">
                <a:ea typeface="+mn-lt"/>
                <a:cs typeface="+mn-lt"/>
              </a:rPr>
              <a:t>as.data.table</a:t>
            </a:r>
            <a:r>
              <a:rPr lang="en-US" sz="1400" b="0" dirty="0">
                <a:ea typeface="+mn-lt"/>
                <a:cs typeface="+mn-lt"/>
              </a:rPr>
              <a:t>(</a:t>
            </a:r>
            <a:r>
              <a:rPr lang="en-US" sz="1400" b="0" dirty="0" err="1">
                <a:ea typeface="+mn-lt"/>
                <a:cs typeface="+mn-lt"/>
              </a:rPr>
              <a:t>maternal_data</a:t>
            </a:r>
            <a:r>
              <a:rPr lang="en-US" sz="1400" b="0" dirty="0">
                <a:ea typeface="+mn-lt"/>
                <a:cs typeface="+mn-lt"/>
              </a:rPr>
              <a:t>)</a:t>
            </a:r>
            <a:endParaRPr lang="en-US" sz="1200" dirty="0">
              <a:ea typeface="Calibri"/>
              <a:cs typeface="Calibri"/>
            </a:endParaRPr>
          </a:p>
          <a:p>
            <a:pPr indent="-456565">
              <a:buNone/>
            </a:pPr>
            <a:endParaRPr lang="en-US" sz="120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>
                <a:solidFill>
                  <a:srgbClr val="92D050"/>
                </a:solidFill>
                <a:ea typeface="+mn-lt"/>
                <a:cs typeface="+mn-lt"/>
              </a:rPr>
              <a:t># convert to numeric</a:t>
            </a:r>
            <a:endParaRPr lang="en-US" sz="1200" dirty="0">
              <a:solidFill>
                <a:srgbClr val="4B2E83"/>
              </a:solidFill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>
                <a:ea typeface="+mn-lt"/>
                <a:cs typeface="+mn-lt"/>
              </a:rPr>
              <a:t>cols &lt;- c("Age", "</a:t>
            </a:r>
            <a:r>
              <a:rPr lang="en-US" sz="1400" b="0" dirty="0" err="1">
                <a:ea typeface="+mn-lt"/>
                <a:cs typeface="+mn-lt"/>
              </a:rPr>
              <a:t>SystolicBP</a:t>
            </a:r>
            <a:r>
              <a:rPr lang="en-US" sz="1400" b="0" dirty="0">
                <a:ea typeface="+mn-lt"/>
                <a:cs typeface="+mn-lt"/>
              </a:rPr>
              <a:t>", "</a:t>
            </a:r>
            <a:r>
              <a:rPr lang="en-US" sz="1400" b="0" dirty="0" err="1">
                <a:ea typeface="+mn-lt"/>
                <a:cs typeface="+mn-lt"/>
              </a:rPr>
              <a:t>DiastolicBP</a:t>
            </a:r>
            <a:r>
              <a:rPr lang="en-US" sz="1400" b="0" dirty="0">
                <a:ea typeface="+mn-lt"/>
                <a:cs typeface="+mn-lt"/>
              </a:rPr>
              <a:t>", "</a:t>
            </a:r>
            <a:r>
              <a:rPr lang="en-US" sz="1400" b="0" dirty="0" err="1">
                <a:ea typeface="+mn-lt"/>
                <a:cs typeface="+mn-lt"/>
              </a:rPr>
              <a:t>BloodGlucose</a:t>
            </a:r>
            <a:r>
              <a:rPr lang="en-US" sz="1400" b="0" dirty="0">
                <a:ea typeface="+mn-lt"/>
                <a:cs typeface="+mn-lt"/>
              </a:rPr>
              <a:t>", "</a:t>
            </a:r>
            <a:r>
              <a:rPr lang="en-US" sz="1400" b="0" dirty="0" err="1">
                <a:ea typeface="+mn-lt"/>
                <a:cs typeface="+mn-lt"/>
              </a:rPr>
              <a:t>BodyTemp</a:t>
            </a:r>
            <a:r>
              <a:rPr lang="en-US" sz="1400" b="0" dirty="0">
                <a:ea typeface="+mn-lt"/>
                <a:cs typeface="+mn-lt"/>
              </a:rPr>
              <a:t>", </a:t>
            </a:r>
            <a:endParaRPr lang="en-US" sz="1200" dirty="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>
                <a:ea typeface="+mn-lt"/>
                <a:cs typeface="+mn-lt"/>
              </a:rPr>
              <a:t>          "</a:t>
            </a:r>
            <a:r>
              <a:rPr lang="en-US" sz="1400" b="0" dirty="0" err="1">
                <a:ea typeface="+mn-lt"/>
                <a:cs typeface="+mn-lt"/>
              </a:rPr>
              <a:t>HeartRate</a:t>
            </a:r>
            <a:r>
              <a:rPr lang="en-US" sz="1400" b="0" dirty="0">
                <a:ea typeface="+mn-lt"/>
                <a:cs typeface="+mn-lt"/>
              </a:rPr>
              <a:t>")</a:t>
            </a:r>
            <a:endParaRPr lang="en-US" sz="1200" dirty="0">
              <a:ea typeface="Calibri"/>
              <a:cs typeface="Calibri"/>
            </a:endParaRPr>
          </a:p>
          <a:p>
            <a:pPr indent="0">
              <a:buNone/>
            </a:pPr>
            <a:r>
              <a:rPr lang="en-US" sz="1400" b="0" dirty="0" err="1">
                <a:ea typeface="+mn-lt"/>
                <a:cs typeface="+mn-lt"/>
              </a:rPr>
              <a:t>maternal_dt</a:t>
            </a:r>
            <a:r>
              <a:rPr lang="en-US" sz="1400" b="0" dirty="0">
                <a:ea typeface="+mn-lt"/>
                <a:cs typeface="+mn-lt"/>
              </a:rPr>
              <a:t>[, (cols) := </a:t>
            </a:r>
            <a:r>
              <a:rPr lang="en-US" sz="1400" b="0" dirty="0" err="1">
                <a:ea typeface="+mn-lt"/>
                <a:cs typeface="+mn-lt"/>
              </a:rPr>
              <a:t>lapply</a:t>
            </a:r>
            <a:r>
              <a:rPr lang="en-US" sz="1400" b="0" dirty="0">
                <a:ea typeface="+mn-lt"/>
                <a:cs typeface="+mn-lt"/>
              </a:rPr>
              <a:t>(.SD, </a:t>
            </a:r>
            <a:r>
              <a:rPr lang="en-US" sz="1400" b="0" dirty="0" err="1">
                <a:ea typeface="+mn-lt"/>
                <a:cs typeface="+mn-lt"/>
              </a:rPr>
              <a:t>as.numeric</a:t>
            </a:r>
            <a:r>
              <a:rPr lang="en-US" sz="1400" b="0" dirty="0">
                <a:ea typeface="+mn-lt"/>
                <a:cs typeface="+mn-lt"/>
              </a:rPr>
              <a:t>), .</a:t>
            </a:r>
            <a:r>
              <a:rPr lang="en-US" sz="1400" b="0" dirty="0" err="1">
                <a:ea typeface="+mn-lt"/>
                <a:cs typeface="+mn-lt"/>
              </a:rPr>
              <a:t>SDcols</a:t>
            </a:r>
            <a:r>
              <a:rPr lang="en-US" sz="1400" b="0" dirty="0">
                <a:ea typeface="+mn-lt"/>
                <a:cs typeface="+mn-lt"/>
              </a:rPr>
              <a:t> = cols]</a:t>
            </a:r>
            <a:endParaRPr lang="en-US" sz="1200" dirty="0"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7E8AB7-C700-A1C8-EDF4-EC6AC240A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633" y="2889849"/>
            <a:ext cx="4419337" cy="280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55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33E94-FEE7-1A7E-F607-DCE1C7BC4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6AA8A7-119B-248B-5788-A9DCFFA18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21920" tIns="60960" rIns="121920" bIns="60960" anchor="b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Open Sans"/>
              </a:rPr>
              <a:t>GENERATE SUMMARY STATISTICS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6CA48-393C-6718-1227-0F6151D8BD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7231" y="2214423"/>
            <a:ext cx="10929485" cy="3881578"/>
          </a:xfr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456565">
              <a:buNone/>
            </a:pPr>
            <a:r>
              <a:rPr lang="en-US" sz="2000" b="0" dirty="0">
                <a:solidFill>
                  <a:srgbClr val="92D050"/>
                </a:solidFill>
                <a:ea typeface="+mn-lt"/>
                <a:cs typeface="+mn-lt"/>
              </a:rPr>
              <a:t># show summary statistics to see differences by </a:t>
            </a:r>
            <a:r>
              <a:rPr lang="en-US" sz="2000" b="0" dirty="0" err="1">
                <a:solidFill>
                  <a:srgbClr val="92D050"/>
                </a:solidFill>
                <a:ea typeface="+mn-lt"/>
                <a:cs typeface="+mn-lt"/>
              </a:rPr>
              <a:t>RiskLevel</a:t>
            </a:r>
            <a:endParaRPr lang="en-US" sz="1800" dirty="0" err="1">
              <a:solidFill>
                <a:srgbClr val="92D050"/>
              </a:solidFill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2000" b="0" dirty="0" err="1">
                <a:ea typeface="+mn-lt"/>
                <a:cs typeface="+mn-lt"/>
              </a:rPr>
              <a:t>summary_by_risk</a:t>
            </a:r>
            <a:r>
              <a:rPr lang="en-US" sz="2000" b="0" dirty="0">
                <a:ea typeface="+mn-lt"/>
                <a:cs typeface="+mn-lt"/>
              </a:rPr>
              <a:t> &lt;- </a:t>
            </a:r>
            <a:r>
              <a:rPr lang="en-US" sz="2000" b="0" dirty="0" err="1">
                <a:ea typeface="+mn-lt"/>
                <a:cs typeface="+mn-lt"/>
              </a:rPr>
              <a:t>maternal_dt</a:t>
            </a:r>
            <a:r>
              <a:rPr lang="en-US" sz="2000" b="0" dirty="0">
                <a:ea typeface="+mn-lt"/>
                <a:cs typeface="+mn-lt"/>
              </a:rPr>
              <a:t>[, </a:t>
            </a:r>
            <a:r>
              <a:rPr lang="en-US" sz="2000" b="0" dirty="0" err="1">
                <a:ea typeface="+mn-lt"/>
                <a:cs typeface="+mn-lt"/>
              </a:rPr>
              <a:t>lapply</a:t>
            </a:r>
            <a:r>
              <a:rPr lang="en-US" sz="2000" b="0" dirty="0">
                <a:ea typeface="+mn-lt"/>
                <a:cs typeface="+mn-lt"/>
              </a:rPr>
              <a:t>(.SD, mean), by=</a:t>
            </a:r>
            <a:r>
              <a:rPr lang="en-US" sz="2000" b="0" dirty="0" err="1">
                <a:ea typeface="+mn-lt"/>
                <a:cs typeface="+mn-lt"/>
              </a:rPr>
              <a:t>RiskLevel</a:t>
            </a:r>
            <a:r>
              <a:rPr lang="en-US" sz="2000" b="0" dirty="0">
                <a:ea typeface="+mn-lt"/>
                <a:cs typeface="+mn-lt"/>
              </a:rPr>
              <a:t>]</a:t>
            </a:r>
            <a:endParaRPr lang="en-US" sz="1800" dirty="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2000" b="0" dirty="0">
                <a:ea typeface="+mn-lt"/>
                <a:cs typeface="+mn-lt"/>
              </a:rPr>
              <a:t>print(</a:t>
            </a:r>
            <a:r>
              <a:rPr lang="en-US" sz="2000" b="0" dirty="0" err="1">
                <a:ea typeface="+mn-lt"/>
                <a:cs typeface="+mn-lt"/>
              </a:rPr>
              <a:t>summary_by_risk</a:t>
            </a:r>
            <a:r>
              <a:rPr lang="en-US" sz="2000" b="0" dirty="0">
                <a:ea typeface="+mn-lt"/>
                <a:cs typeface="+mn-lt"/>
              </a:rPr>
              <a:t>)</a:t>
            </a:r>
            <a:endParaRPr lang="en-US" sz="1800" dirty="0">
              <a:ea typeface="Calibri"/>
              <a:cs typeface="Calibri"/>
            </a:endParaRPr>
          </a:p>
          <a:p>
            <a:pPr indent="0">
              <a:buNone/>
            </a:pPr>
            <a:endParaRPr lang="en-US" sz="2000" b="0" dirty="0">
              <a:ea typeface="Calibri"/>
              <a:cs typeface="Calibri"/>
            </a:endParaRPr>
          </a:p>
        </p:txBody>
      </p:sp>
      <p:pic>
        <p:nvPicPr>
          <p:cNvPr id="2" name="Picture 1" descr="A number and numbers on a white background&#10;&#10;AI-generated content may be incorrect.">
            <a:extLst>
              <a:ext uri="{FF2B5EF4-FFF2-40B4-BE49-F238E27FC236}">
                <a16:creationId xmlns:a16="http://schemas.microsoft.com/office/drawing/2014/main" id="{8CFEF7A4-B157-CE1B-64DF-84A3BA0B2A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7" r="49" b="360"/>
          <a:stretch>
            <a:fillRect/>
          </a:stretch>
        </p:blipFill>
        <p:spPr>
          <a:xfrm>
            <a:off x="594779" y="3879285"/>
            <a:ext cx="10815943" cy="143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570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19146-8919-CF93-9EC5-DBCE6C1B6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2BACDD-18F2-5FCE-DAB1-70BB60EE8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21920" tIns="60960" rIns="121920" bIns="60960" anchor="b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Open Sans"/>
              </a:rPr>
              <a:t>RESHAPE THE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1CC86-C680-FD7C-B7E5-35FCF6A915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7231" y="2214423"/>
            <a:ext cx="10929485" cy="3881578"/>
          </a:xfr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456565">
              <a:buNone/>
            </a:pPr>
            <a:r>
              <a:rPr lang="en-US" sz="1800" b="0" dirty="0">
                <a:solidFill>
                  <a:srgbClr val="92D050"/>
                </a:solidFill>
                <a:ea typeface="+mn-lt"/>
                <a:cs typeface="+mn-lt"/>
              </a:rPr>
              <a:t># put in long format for visualizations</a:t>
            </a:r>
            <a:endParaRPr lang="en-US" sz="1600" dirty="0">
              <a:solidFill>
                <a:srgbClr val="92D050"/>
              </a:solidFill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1800" b="0" dirty="0" err="1">
                <a:ea typeface="+mn-lt"/>
                <a:cs typeface="+mn-lt"/>
              </a:rPr>
              <a:t>maternal_long</a:t>
            </a:r>
            <a:r>
              <a:rPr lang="en-US" sz="1800" b="0" dirty="0">
                <a:ea typeface="+mn-lt"/>
                <a:cs typeface="+mn-lt"/>
              </a:rPr>
              <a:t> &lt;- melt(</a:t>
            </a:r>
            <a:endParaRPr lang="en-US" sz="1600" dirty="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1800" b="0" dirty="0">
                <a:ea typeface="+mn-lt"/>
                <a:cs typeface="+mn-lt"/>
              </a:rPr>
              <a:t>  </a:t>
            </a:r>
            <a:r>
              <a:rPr lang="en-US" sz="1800" b="0" dirty="0" err="1">
                <a:ea typeface="+mn-lt"/>
                <a:cs typeface="+mn-lt"/>
              </a:rPr>
              <a:t>maternal_dt</a:t>
            </a:r>
            <a:r>
              <a:rPr lang="en-US" sz="1800" b="0" dirty="0">
                <a:ea typeface="+mn-lt"/>
                <a:cs typeface="+mn-lt"/>
              </a:rPr>
              <a:t>,</a:t>
            </a:r>
            <a:endParaRPr lang="en-US" sz="1600" dirty="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1800" b="0" dirty="0">
                <a:ea typeface="+mn-lt"/>
                <a:cs typeface="+mn-lt"/>
              </a:rPr>
              <a:t>  </a:t>
            </a:r>
            <a:r>
              <a:rPr lang="en-US" sz="1800" b="0" dirty="0" err="1">
                <a:ea typeface="+mn-lt"/>
                <a:cs typeface="+mn-lt"/>
              </a:rPr>
              <a:t>id.vars</a:t>
            </a:r>
            <a:r>
              <a:rPr lang="en-US" sz="1800" b="0" dirty="0">
                <a:ea typeface="+mn-lt"/>
                <a:cs typeface="+mn-lt"/>
              </a:rPr>
              <a:t> = "</a:t>
            </a:r>
            <a:r>
              <a:rPr lang="en-US" sz="1800" b="0" dirty="0" err="1">
                <a:ea typeface="+mn-lt"/>
                <a:cs typeface="+mn-lt"/>
              </a:rPr>
              <a:t>RiskLevel</a:t>
            </a:r>
            <a:r>
              <a:rPr lang="en-US" sz="1800" b="0" dirty="0">
                <a:ea typeface="+mn-lt"/>
                <a:cs typeface="+mn-lt"/>
              </a:rPr>
              <a:t>",</a:t>
            </a:r>
            <a:endParaRPr lang="en-US" sz="1600" dirty="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1800" b="0" dirty="0">
                <a:ea typeface="+mn-lt"/>
                <a:cs typeface="+mn-lt"/>
              </a:rPr>
              <a:t>  </a:t>
            </a:r>
            <a:r>
              <a:rPr lang="en-US" sz="1800" b="0" err="1">
                <a:ea typeface="+mn-lt"/>
                <a:cs typeface="+mn-lt"/>
              </a:rPr>
              <a:t>measure.vars</a:t>
            </a:r>
            <a:r>
              <a:rPr lang="en-US" sz="1800" b="0" dirty="0">
                <a:ea typeface="+mn-lt"/>
                <a:cs typeface="+mn-lt"/>
              </a:rPr>
              <a:t> = c("Age", "</a:t>
            </a:r>
            <a:r>
              <a:rPr lang="en-US" sz="1800" b="0" err="1">
                <a:ea typeface="+mn-lt"/>
                <a:cs typeface="+mn-lt"/>
              </a:rPr>
              <a:t>SystolicBP</a:t>
            </a:r>
            <a:r>
              <a:rPr lang="en-US" sz="1800" b="0" dirty="0">
                <a:ea typeface="+mn-lt"/>
                <a:cs typeface="+mn-lt"/>
              </a:rPr>
              <a:t>", "</a:t>
            </a:r>
            <a:r>
              <a:rPr lang="en-US" sz="1800" b="0" err="1">
                <a:ea typeface="+mn-lt"/>
                <a:cs typeface="+mn-lt"/>
              </a:rPr>
              <a:t>DiastolicBP</a:t>
            </a:r>
            <a:r>
              <a:rPr lang="en-US" sz="1800" b="0" dirty="0">
                <a:ea typeface="+mn-lt"/>
                <a:cs typeface="+mn-lt"/>
              </a:rPr>
              <a:t>", "</a:t>
            </a:r>
            <a:r>
              <a:rPr lang="en-US" sz="1800" b="0" err="1">
                <a:ea typeface="+mn-lt"/>
                <a:cs typeface="+mn-lt"/>
              </a:rPr>
              <a:t>BloodGlucose</a:t>
            </a:r>
            <a:r>
              <a:rPr lang="en-US" sz="1800" b="0" dirty="0">
                <a:ea typeface="+mn-lt"/>
                <a:cs typeface="+mn-lt"/>
              </a:rPr>
              <a:t>", </a:t>
            </a:r>
            <a:endParaRPr lang="en-US" sz="1600" dirty="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1800" b="0" dirty="0">
                <a:ea typeface="+mn-lt"/>
                <a:cs typeface="+mn-lt"/>
              </a:rPr>
              <a:t>                   "</a:t>
            </a:r>
            <a:r>
              <a:rPr lang="en-US" sz="1800" b="0" err="1">
                <a:ea typeface="+mn-lt"/>
                <a:cs typeface="+mn-lt"/>
              </a:rPr>
              <a:t>BodyTemp</a:t>
            </a:r>
            <a:r>
              <a:rPr lang="en-US" sz="1800" b="0" dirty="0">
                <a:ea typeface="+mn-lt"/>
                <a:cs typeface="+mn-lt"/>
              </a:rPr>
              <a:t>", "</a:t>
            </a:r>
            <a:r>
              <a:rPr lang="en-US" sz="1800" b="0" err="1">
                <a:ea typeface="+mn-lt"/>
                <a:cs typeface="+mn-lt"/>
              </a:rPr>
              <a:t>HeartRate</a:t>
            </a:r>
            <a:r>
              <a:rPr lang="en-US" sz="1800" b="0" dirty="0">
                <a:ea typeface="+mn-lt"/>
                <a:cs typeface="+mn-lt"/>
              </a:rPr>
              <a:t>"),</a:t>
            </a:r>
            <a:endParaRPr lang="en-US" sz="1600" dirty="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1800" b="0" dirty="0">
                <a:ea typeface="+mn-lt"/>
                <a:cs typeface="+mn-lt"/>
              </a:rPr>
              <a:t>  variable.name = "Indicator",</a:t>
            </a:r>
            <a:endParaRPr lang="en-US" sz="1600" dirty="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1800" b="0" dirty="0">
                <a:ea typeface="+mn-lt"/>
                <a:cs typeface="+mn-lt"/>
              </a:rPr>
              <a:t>  value.name = "Value"</a:t>
            </a:r>
            <a:endParaRPr lang="en-US" sz="1600" dirty="0">
              <a:ea typeface="+mn-lt"/>
              <a:cs typeface="+mn-lt"/>
            </a:endParaRPr>
          </a:p>
          <a:p>
            <a:pPr indent="0">
              <a:buNone/>
            </a:pPr>
            <a:r>
              <a:rPr lang="en-US" sz="1800" b="0" dirty="0">
                <a:ea typeface="+mn-lt"/>
                <a:cs typeface="+mn-lt"/>
              </a:rPr>
              <a:t>)</a:t>
            </a:r>
            <a:endParaRPr lang="en-US" sz="1600" dirty="0">
              <a:ea typeface="+mn-lt"/>
              <a:cs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1C5EA2-4842-5987-B0CC-4404E10CF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450" y="1289538"/>
            <a:ext cx="2338135" cy="447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564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CB8F9-6A51-FB77-E897-F219B6B5F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397F55-666A-EC39-7228-C6AB3220E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21920" tIns="60960" rIns="121920" bIns="60960" anchor="b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Open Sans"/>
              </a:rPr>
              <a:t>DATA VISUALIZATION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D3DB7-217F-B926-A8B9-F384153762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7231" y="2214423"/>
            <a:ext cx="4636326" cy="3881578"/>
          </a:xfr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456565">
              <a:buNone/>
            </a:pPr>
            <a:r>
              <a:rPr lang="en-US" sz="1600" b="0" dirty="0">
                <a:solidFill>
                  <a:srgbClr val="92D050"/>
                </a:solidFill>
                <a:ea typeface="+mn-lt"/>
                <a:cs typeface="+mn-lt"/>
              </a:rPr>
              <a:t># box plot by risk level</a:t>
            </a:r>
            <a:endParaRPr lang="en-US" sz="1400" dirty="0">
              <a:solidFill>
                <a:srgbClr val="92D050"/>
              </a:solidFill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600" b="0">
                <a:ea typeface="+mn-lt"/>
                <a:cs typeface="+mn-lt"/>
              </a:rPr>
              <a:t>library("ggplot2")</a:t>
            </a:r>
            <a:endParaRPr lang="en-US" sz="200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1600" b="0" err="1">
                <a:ea typeface="+mn-lt"/>
                <a:cs typeface="+mn-lt"/>
              </a:rPr>
              <a:t>ggplot</a:t>
            </a:r>
            <a:r>
              <a:rPr lang="en-US" sz="1600" b="0">
                <a:ea typeface="+mn-lt"/>
                <a:cs typeface="+mn-lt"/>
              </a:rPr>
              <a:t>(</a:t>
            </a:r>
            <a:r>
              <a:rPr lang="en-US" sz="1600" b="0" err="1">
                <a:ea typeface="+mn-lt"/>
                <a:cs typeface="+mn-lt"/>
              </a:rPr>
              <a:t>maternal_long</a:t>
            </a:r>
            <a:r>
              <a:rPr lang="en-US" sz="1600" b="0">
                <a:ea typeface="+mn-lt"/>
                <a:cs typeface="+mn-lt"/>
              </a:rPr>
              <a:t>, </a:t>
            </a:r>
            <a:r>
              <a:rPr lang="en-US" sz="1600" b="0" err="1">
                <a:ea typeface="+mn-lt"/>
                <a:cs typeface="+mn-lt"/>
              </a:rPr>
              <a:t>aes</a:t>
            </a:r>
            <a:r>
              <a:rPr lang="en-US" sz="1600" b="0">
                <a:ea typeface="+mn-lt"/>
                <a:cs typeface="+mn-lt"/>
              </a:rPr>
              <a:t>(x = factor(RiskLevel), </a:t>
            </a:r>
            <a:endParaRPr lang="en-US" sz="200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1600" b="0" dirty="0">
                <a:ea typeface="+mn-lt"/>
                <a:cs typeface="+mn-lt"/>
              </a:rPr>
              <a:t>                          y = Value, fill = factor(</a:t>
            </a:r>
            <a:r>
              <a:rPr lang="en-US" sz="1600" b="0" dirty="0" err="1">
                <a:ea typeface="+mn-lt"/>
                <a:cs typeface="+mn-lt"/>
              </a:rPr>
              <a:t>RiskLevel</a:t>
            </a:r>
            <a:r>
              <a:rPr lang="en-US" sz="1600" b="0" dirty="0">
                <a:ea typeface="+mn-lt"/>
                <a:cs typeface="+mn-lt"/>
              </a:rPr>
              <a:t>))) +</a:t>
            </a:r>
            <a:endParaRPr lang="en-US" sz="2000" dirty="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1600" b="0" dirty="0">
                <a:ea typeface="+mn-lt"/>
                <a:cs typeface="+mn-lt"/>
              </a:rPr>
              <a:t>  </a:t>
            </a:r>
            <a:r>
              <a:rPr lang="en-US" sz="1600" b="0" dirty="0" err="1">
                <a:ea typeface="+mn-lt"/>
                <a:cs typeface="+mn-lt"/>
              </a:rPr>
              <a:t>geom_boxplot</a:t>
            </a:r>
            <a:r>
              <a:rPr lang="en-US" sz="1600" b="0" dirty="0">
                <a:ea typeface="+mn-lt"/>
                <a:cs typeface="+mn-lt"/>
              </a:rPr>
              <a:t>() +</a:t>
            </a:r>
            <a:endParaRPr lang="en-US" sz="2000" dirty="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1600" b="0" dirty="0">
                <a:ea typeface="+mn-lt"/>
                <a:cs typeface="+mn-lt"/>
              </a:rPr>
              <a:t>  </a:t>
            </a:r>
            <a:r>
              <a:rPr lang="en-US" sz="1600" b="0" dirty="0" err="1">
                <a:ea typeface="+mn-lt"/>
                <a:cs typeface="+mn-lt"/>
              </a:rPr>
              <a:t>facet_wrap</a:t>
            </a:r>
            <a:r>
              <a:rPr lang="en-US" sz="1600" b="0" dirty="0">
                <a:ea typeface="+mn-lt"/>
                <a:cs typeface="+mn-lt"/>
              </a:rPr>
              <a:t>(~Indicator, scales = "</a:t>
            </a:r>
            <a:r>
              <a:rPr lang="en-US" sz="1600" b="0" dirty="0" err="1">
                <a:ea typeface="+mn-lt"/>
                <a:cs typeface="+mn-lt"/>
              </a:rPr>
              <a:t>free_y</a:t>
            </a:r>
            <a:r>
              <a:rPr lang="en-US" sz="1600" b="0" dirty="0">
                <a:ea typeface="+mn-lt"/>
                <a:cs typeface="+mn-lt"/>
              </a:rPr>
              <a:t>") +</a:t>
            </a:r>
            <a:endParaRPr lang="en-US" sz="2000" dirty="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1600" b="0" dirty="0">
                <a:ea typeface="+mn-lt"/>
                <a:cs typeface="+mn-lt"/>
              </a:rPr>
              <a:t>  labs(x = "Risk Level", y = "Value", </a:t>
            </a:r>
            <a:endParaRPr lang="en-US" sz="2000" dirty="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1600" b="0" dirty="0">
                <a:ea typeface="+mn-lt"/>
                <a:cs typeface="+mn-lt"/>
              </a:rPr>
              <a:t>       title = "Health Indicators vs Risk Level")</a:t>
            </a:r>
            <a:endParaRPr lang="en-US" sz="2000" dirty="0">
              <a:ea typeface="+mn-lt"/>
              <a:cs typeface="+mn-lt"/>
            </a:endParaRPr>
          </a:p>
          <a:p>
            <a:pPr indent="-456565">
              <a:buNone/>
            </a:pPr>
            <a:endParaRPr lang="en-US" sz="200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600" b="0" dirty="0" err="1">
                <a:ea typeface="+mn-lt"/>
                <a:cs typeface="+mn-lt"/>
              </a:rPr>
              <a:t>ggsave</a:t>
            </a:r>
            <a:r>
              <a:rPr lang="en-US" sz="1600" b="0" dirty="0">
                <a:ea typeface="+mn-lt"/>
                <a:cs typeface="+mn-lt"/>
              </a:rPr>
              <a:t>("maternal_data_visualization.png", </a:t>
            </a:r>
            <a:endParaRPr lang="en-US" sz="2000" dirty="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600" b="0" dirty="0">
                <a:ea typeface="+mn-lt"/>
                <a:cs typeface="+mn-lt"/>
              </a:rPr>
              <a:t>       width = 10, height = 7)</a:t>
            </a:r>
            <a:endParaRPr lang="en-US" sz="2000" dirty="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1600" b="0" dirty="0" err="1">
                <a:ea typeface="+mn-lt"/>
                <a:cs typeface="+mn-lt"/>
              </a:rPr>
              <a:t>shell.exec</a:t>
            </a:r>
            <a:r>
              <a:rPr lang="en-US" sz="1600" b="0" dirty="0">
                <a:ea typeface="+mn-lt"/>
                <a:cs typeface="+mn-lt"/>
              </a:rPr>
              <a:t>("maternal_data_visualization.png")</a:t>
            </a:r>
            <a:endParaRPr lang="en-US" sz="2000" dirty="0">
              <a:ea typeface="+mn-lt"/>
              <a:cs typeface="+mn-lt"/>
            </a:endParaRPr>
          </a:p>
        </p:txBody>
      </p:sp>
      <p:pic>
        <p:nvPicPr>
          <p:cNvPr id="2" name="Picture 1" descr="A graph of different colored boxes&#10;&#10;AI-generated content may be incorrect.">
            <a:extLst>
              <a:ext uri="{FF2B5EF4-FFF2-40B4-BE49-F238E27FC236}">
                <a16:creationId xmlns:a16="http://schemas.microsoft.com/office/drawing/2014/main" id="{36383626-CECD-1A3B-7EF0-B451444DB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438" y="1603930"/>
            <a:ext cx="6402778" cy="449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50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DE2F6-7355-3834-EFB6-C24495B6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508D17-E52F-8615-62F4-1F8F5041F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21920" tIns="60960" rIns="121920" bIns="60960" anchor="b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Open Sans"/>
              </a:rPr>
              <a:t>BUILD LINEAR REGRESSION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F64F4-39A7-2FDC-E3BF-5FC1901F2C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7231" y="2214423"/>
            <a:ext cx="5766003" cy="3881578"/>
          </a:xfr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456565">
              <a:buNone/>
            </a:pPr>
            <a:r>
              <a:rPr lang="en-US" sz="2000" b="0" dirty="0">
                <a:solidFill>
                  <a:srgbClr val="92D050"/>
                </a:solidFill>
                <a:ea typeface="+mn-lt"/>
                <a:cs typeface="+mn-lt"/>
              </a:rPr>
              <a:t># create linear regression model for metrics against risk level</a:t>
            </a:r>
            <a:endParaRPr lang="en-US" sz="1800" dirty="0">
              <a:solidFill>
                <a:srgbClr val="92D050"/>
              </a:solidFill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2000" b="0" dirty="0" err="1">
                <a:ea typeface="+mn-lt"/>
                <a:cs typeface="+mn-lt"/>
              </a:rPr>
              <a:t>maternal_model</a:t>
            </a:r>
            <a:r>
              <a:rPr lang="en-US" sz="2000" b="0" dirty="0">
                <a:ea typeface="+mn-lt"/>
                <a:cs typeface="+mn-lt"/>
              </a:rPr>
              <a:t> &lt;- </a:t>
            </a:r>
            <a:r>
              <a:rPr lang="en-US" sz="2000" b="0" dirty="0" err="1">
                <a:ea typeface="+mn-lt"/>
                <a:cs typeface="+mn-lt"/>
              </a:rPr>
              <a:t>lm</a:t>
            </a:r>
            <a:r>
              <a:rPr lang="en-US" sz="2000" b="0" dirty="0">
                <a:ea typeface="+mn-lt"/>
                <a:cs typeface="+mn-lt"/>
              </a:rPr>
              <a:t>(</a:t>
            </a:r>
            <a:r>
              <a:rPr lang="en-US" sz="2000" b="0" dirty="0" err="1">
                <a:ea typeface="+mn-lt"/>
                <a:cs typeface="+mn-lt"/>
              </a:rPr>
              <a:t>as.numeric</a:t>
            </a:r>
            <a:r>
              <a:rPr lang="en-US" sz="2000" b="0" dirty="0">
                <a:ea typeface="+mn-lt"/>
                <a:cs typeface="+mn-lt"/>
              </a:rPr>
              <a:t>(</a:t>
            </a:r>
            <a:r>
              <a:rPr lang="en-US" sz="2000" b="0" dirty="0" err="1">
                <a:ea typeface="+mn-lt"/>
                <a:cs typeface="+mn-lt"/>
              </a:rPr>
              <a:t>RiskLevel</a:t>
            </a:r>
            <a:r>
              <a:rPr lang="en-US" sz="2000" b="0" dirty="0">
                <a:ea typeface="+mn-lt"/>
                <a:cs typeface="+mn-lt"/>
              </a:rPr>
              <a:t>) ~ Age </a:t>
            </a:r>
            <a:endParaRPr lang="en-US" sz="1800" dirty="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2000" b="0" dirty="0">
                <a:ea typeface="+mn-lt"/>
                <a:cs typeface="+mn-lt"/>
              </a:rPr>
              <a:t>                                         + </a:t>
            </a:r>
            <a:r>
              <a:rPr lang="en-US" sz="2000" b="0" dirty="0" err="1">
                <a:ea typeface="+mn-lt"/>
                <a:cs typeface="+mn-lt"/>
              </a:rPr>
              <a:t>SystolicBP</a:t>
            </a:r>
            <a:endParaRPr lang="en-US" sz="1800" dirty="0" err="1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2000" b="0" dirty="0">
                <a:ea typeface="+mn-lt"/>
                <a:cs typeface="+mn-lt"/>
              </a:rPr>
              <a:t>                                      +  </a:t>
            </a:r>
            <a:r>
              <a:rPr lang="en-US" sz="2000" b="0" dirty="0" err="1">
                <a:ea typeface="+mn-lt"/>
                <a:cs typeface="+mn-lt"/>
              </a:rPr>
              <a:t>DiastolicBP</a:t>
            </a:r>
            <a:r>
              <a:rPr lang="en-US" sz="2000" b="0" dirty="0">
                <a:ea typeface="+mn-lt"/>
                <a:cs typeface="+mn-lt"/>
              </a:rPr>
              <a:t> </a:t>
            </a:r>
            <a:endParaRPr lang="en-US" sz="180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2000" b="0" dirty="0">
                <a:ea typeface="+mn-lt"/>
                <a:cs typeface="+mn-lt"/>
              </a:rPr>
              <a:t>                                         + </a:t>
            </a:r>
            <a:r>
              <a:rPr lang="en-US" sz="2000" b="0" dirty="0" err="1">
                <a:ea typeface="+mn-lt"/>
                <a:cs typeface="+mn-lt"/>
              </a:rPr>
              <a:t>BloodGlucose</a:t>
            </a:r>
            <a:r>
              <a:rPr lang="en-US" sz="2000" b="0" dirty="0">
                <a:ea typeface="+mn-lt"/>
                <a:cs typeface="+mn-lt"/>
              </a:rPr>
              <a:t> </a:t>
            </a:r>
            <a:endParaRPr lang="en-US" sz="1800" dirty="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2000" b="0" dirty="0">
                <a:ea typeface="+mn-lt"/>
                <a:cs typeface="+mn-lt"/>
              </a:rPr>
              <a:t>                                         + </a:t>
            </a:r>
            <a:r>
              <a:rPr lang="en-US" sz="2000" b="0" dirty="0" err="1">
                <a:ea typeface="+mn-lt"/>
                <a:cs typeface="+mn-lt"/>
              </a:rPr>
              <a:t>BodyTemp</a:t>
            </a:r>
            <a:r>
              <a:rPr lang="en-US" sz="2000" b="0" dirty="0">
                <a:ea typeface="+mn-lt"/>
                <a:cs typeface="+mn-lt"/>
              </a:rPr>
              <a:t> </a:t>
            </a:r>
            <a:endParaRPr lang="en-US" sz="1800" dirty="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2000" b="0" dirty="0">
                <a:ea typeface="+mn-lt"/>
                <a:cs typeface="+mn-lt"/>
              </a:rPr>
              <a:t>                                         + </a:t>
            </a:r>
            <a:r>
              <a:rPr lang="en-US" sz="2000" b="0" dirty="0" err="1">
                <a:ea typeface="+mn-lt"/>
                <a:cs typeface="+mn-lt"/>
              </a:rPr>
              <a:t>HeartRate</a:t>
            </a:r>
            <a:r>
              <a:rPr lang="en-US" sz="2000" b="0" dirty="0">
                <a:ea typeface="+mn-lt"/>
                <a:cs typeface="+mn-lt"/>
              </a:rPr>
              <a:t>, </a:t>
            </a:r>
            <a:endParaRPr lang="en-US" sz="1800" dirty="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2000" b="0" dirty="0">
                <a:ea typeface="+mn-lt"/>
                <a:cs typeface="+mn-lt"/>
              </a:rPr>
              <a:t>                                         data = </a:t>
            </a:r>
            <a:r>
              <a:rPr lang="en-US" sz="2000" b="0" dirty="0" err="1">
                <a:ea typeface="+mn-lt"/>
                <a:cs typeface="+mn-lt"/>
              </a:rPr>
              <a:t>maternal_dt</a:t>
            </a:r>
            <a:r>
              <a:rPr lang="en-US" sz="2000" b="0" dirty="0">
                <a:ea typeface="+mn-lt"/>
                <a:cs typeface="+mn-lt"/>
              </a:rPr>
              <a:t>)</a:t>
            </a:r>
            <a:endParaRPr lang="en-US" sz="1800" dirty="0"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2000" b="0" dirty="0">
                <a:ea typeface="+mn-lt"/>
                <a:cs typeface="+mn-lt"/>
              </a:rPr>
              <a:t>summary(</a:t>
            </a:r>
            <a:r>
              <a:rPr lang="en-US" sz="2000" b="0" err="1">
                <a:ea typeface="+mn-lt"/>
                <a:cs typeface="+mn-lt"/>
              </a:rPr>
              <a:t>maternal_model</a:t>
            </a:r>
            <a:r>
              <a:rPr lang="en-US" sz="2000" b="0" dirty="0">
                <a:ea typeface="+mn-lt"/>
                <a:cs typeface="+mn-lt"/>
              </a:rPr>
              <a:t>)</a:t>
            </a:r>
            <a:endParaRPr lang="en-US" sz="1800" dirty="0">
              <a:ea typeface="+mn-lt"/>
              <a:cs typeface="+mn-lt"/>
            </a:endParaRPr>
          </a:p>
          <a:p>
            <a:pPr indent="-456565">
              <a:buNone/>
            </a:pPr>
            <a:endParaRPr lang="en-US" sz="2000" b="0" dirty="0">
              <a:ea typeface="+mn-lt"/>
              <a:cs typeface="+mn-lt"/>
            </a:endParaRPr>
          </a:p>
          <a:p>
            <a:pPr indent="-456565">
              <a:buNone/>
            </a:pPr>
            <a:endParaRPr lang="en-US" sz="2000" b="0" dirty="0">
              <a:ea typeface="+mn-lt"/>
              <a:cs typeface="+mn-lt"/>
            </a:endParaRP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F83B73A-BE99-6F5F-6B5A-10003531E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609" y="2328629"/>
            <a:ext cx="4712742" cy="343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84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44BDC-7644-990B-AD65-19ED4AF6E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299FB6-C860-57F0-F825-8610B0426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21920" tIns="60960" rIns="121920" bIns="60960" anchor="b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Open Sans"/>
              </a:rPr>
              <a:t>INTERPRETING LINEAR REGRESSION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92E1F-3E4C-190F-6B56-FCB339B1E5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7231" y="2214423"/>
            <a:ext cx="11222561" cy="3881578"/>
          </a:xfr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spcBef>
                <a:spcPts val="0"/>
              </a:spcBef>
              <a:buNone/>
            </a:pPr>
            <a:r>
              <a:rPr lang="en-US" sz="1800" b="0" dirty="0">
                <a:latin typeface="Aptos"/>
                <a:ea typeface="+mn-lt"/>
                <a:cs typeface="+mn-lt"/>
              </a:rPr>
              <a:t>In a linear regression model: </a:t>
            </a:r>
          </a:p>
          <a:p>
            <a:pPr indent="0">
              <a:spcBef>
                <a:spcPts val="0"/>
              </a:spcBef>
              <a:buNone/>
            </a:pPr>
            <a:r>
              <a:rPr lang="en-US" sz="1800" b="0" err="1">
                <a:latin typeface="Aptos"/>
                <a:ea typeface="+mn-lt"/>
                <a:cs typeface="+mn-lt"/>
              </a:rPr>
              <a:t>RiskLevel</a:t>
            </a:r>
            <a:r>
              <a:rPr lang="en-US" sz="1800" b="0" dirty="0">
                <a:latin typeface="Aptos"/>
                <a:ea typeface="+mn-lt"/>
                <a:cs typeface="+mn-lt"/>
              </a:rPr>
              <a:t> = β0 + β1*Age + β2*</a:t>
            </a:r>
            <a:r>
              <a:rPr lang="en-US" sz="1800" b="0" err="1">
                <a:latin typeface="Aptos"/>
                <a:ea typeface="+mn-lt"/>
                <a:cs typeface="+mn-lt"/>
              </a:rPr>
              <a:t>SystolicBP</a:t>
            </a:r>
            <a:r>
              <a:rPr lang="en-US" sz="1800" b="0" dirty="0">
                <a:latin typeface="Aptos"/>
                <a:ea typeface="+mn-lt"/>
                <a:cs typeface="+mn-lt"/>
              </a:rPr>
              <a:t> + β3*</a:t>
            </a:r>
            <a:r>
              <a:rPr lang="en-US" sz="1800" b="0" err="1">
                <a:latin typeface="Aptos"/>
                <a:ea typeface="+mn-lt"/>
                <a:cs typeface="+mn-lt"/>
              </a:rPr>
              <a:t>DiastolicBP</a:t>
            </a:r>
            <a:r>
              <a:rPr lang="en-US" sz="1800" b="0" dirty="0">
                <a:latin typeface="Aptos"/>
                <a:ea typeface="+mn-lt"/>
                <a:cs typeface="+mn-lt"/>
              </a:rPr>
              <a:t> + β4*</a:t>
            </a:r>
            <a:r>
              <a:rPr lang="en-US" sz="1800" b="0" err="1">
                <a:latin typeface="Aptos"/>
                <a:ea typeface="+mn-lt"/>
                <a:cs typeface="+mn-lt"/>
              </a:rPr>
              <a:t>BloodGlucose</a:t>
            </a:r>
            <a:r>
              <a:rPr lang="en-US" sz="1800" b="0" dirty="0">
                <a:latin typeface="Aptos"/>
                <a:ea typeface="+mn-lt"/>
                <a:cs typeface="+mn-lt"/>
              </a:rPr>
              <a:t> + β5*</a:t>
            </a:r>
            <a:r>
              <a:rPr lang="en-US" sz="1800" b="0" err="1">
                <a:latin typeface="Aptos"/>
                <a:ea typeface="+mn-lt"/>
                <a:cs typeface="+mn-lt"/>
              </a:rPr>
              <a:t>BodyTemp</a:t>
            </a:r>
            <a:r>
              <a:rPr lang="en-US" sz="1800" b="0" dirty="0">
                <a:latin typeface="Aptos"/>
                <a:ea typeface="+mn-lt"/>
                <a:cs typeface="+mn-lt"/>
              </a:rPr>
              <a:t> +β6*</a:t>
            </a:r>
            <a:r>
              <a:rPr lang="en-US" sz="1800" b="0" err="1">
                <a:latin typeface="Aptos"/>
                <a:ea typeface="+mn-lt"/>
                <a:cs typeface="+mn-lt"/>
              </a:rPr>
              <a:t>HeartRate</a:t>
            </a:r>
            <a:r>
              <a:rPr lang="en-US" sz="1800" b="0" dirty="0">
                <a:latin typeface="Aptos"/>
                <a:ea typeface="+mn-lt"/>
                <a:cs typeface="+mn-lt"/>
              </a:rPr>
              <a:t> </a:t>
            </a:r>
          </a:p>
          <a:p>
            <a:pPr indent="0">
              <a:spcBef>
                <a:spcPts val="0"/>
              </a:spcBef>
              <a:buNone/>
            </a:pPr>
            <a:endParaRPr lang="en-US" sz="1800" b="0" dirty="0">
              <a:latin typeface="Aptos"/>
              <a:ea typeface="+mn-lt"/>
              <a:cs typeface="+mn-lt"/>
            </a:endParaRPr>
          </a:p>
          <a:p>
            <a:pPr indent="0">
              <a:spcBef>
                <a:spcPts val="0"/>
              </a:spcBef>
              <a:buNone/>
            </a:pPr>
            <a:r>
              <a:rPr lang="en-US" sz="1800" b="0" dirty="0">
                <a:latin typeface="Aptos"/>
                <a:ea typeface="+mn-lt"/>
                <a:cs typeface="+mn-lt"/>
              </a:rPr>
              <a:t>Those β coefficients are the weights. </a:t>
            </a:r>
          </a:p>
          <a:p>
            <a:pPr indent="0">
              <a:spcBef>
                <a:spcPts val="0"/>
              </a:spcBef>
              <a:buNone/>
            </a:pPr>
            <a:endParaRPr lang="en-US" sz="1800" b="0" dirty="0">
              <a:latin typeface="Aptos"/>
              <a:ea typeface="+mn-lt"/>
              <a:cs typeface="+mn-lt"/>
            </a:endParaRPr>
          </a:p>
          <a:p>
            <a:pPr indent="0">
              <a:spcBef>
                <a:spcPts val="0"/>
              </a:spcBef>
              <a:buNone/>
            </a:pPr>
            <a:r>
              <a:rPr lang="en-US" sz="1800" b="0" dirty="0">
                <a:latin typeface="Aptos"/>
                <a:ea typeface="+mn-lt"/>
                <a:cs typeface="+mn-lt"/>
              </a:rPr>
              <a:t>A larger absolute coefficient = stronger effect on </a:t>
            </a:r>
            <a:r>
              <a:rPr lang="en-US" sz="1800" b="0" err="1">
                <a:latin typeface="Aptos"/>
                <a:ea typeface="+mn-lt"/>
                <a:cs typeface="+mn-lt"/>
              </a:rPr>
              <a:t>RiskLevel</a:t>
            </a:r>
            <a:r>
              <a:rPr lang="en-US" sz="1800" b="0" dirty="0">
                <a:latin typeface="Aptos"/>
                <a:ea typeface="+mn-lt"/>
                <a:cs typeface="+mn-lt"/>
              </a:rPr>
              <a:t> </a:t>
            </a:r>
          </a:p>
          <a:p>
            <a:pPr indent="0">
              <a:spcBef>
                <a:spcPts val="0"/>
              </a:spcBef>
              <a:buNone/>
            </a:pPr>
            <a:r>
              <a:rPr lang="en-US" sz="1800" b="0" dirty="0">
                <a:latin typeface="Aptos"/>
                <a:ea typeface="+mn-lt"/>
                <a:cs typeface="+mn-lt"/>
              </a:rPr>
              <a:t>A small coefficient = weak effect </a:t>
            </a:r>
          </a:p>
          <a:p>
            <a:pPr indent="0">
              <a:spcBef>
                <a:spcPts val="0"/>
              </a:spcBef>
              <a:buNone/>
            </a:pPr>
            <a:r>
              <a:rPr lang="en-US" sz="1800" b="0" dirty="0">
                <a:latin typeface="Aptos"/>
                <a:ea typeface="+mn-lt"/>
                <a:cs typeface="+mn-lt"/>
              </a:rPr>
              <a:t>A statistically significant coefficient (p &lt; .05) = reliably contributes </a:t>
            </a:r>
          </a:p>
          <a:p>
            <a:pPr indent="0">
              <a:spcBef>
                <a:spcPts val="0"/>
              </a:spcBef>
              <a:buNone/>
            </a:pPr>
            <a:endParaRPr lang="en-US" sz="1800" b="0" dirty="0">
              <a:latin typeface="Aptos"/>
              <a:ea typeface="+mn-lt"/>
              <a:cs typeface="+mn-lt"/>
            </a:endParaRPr>
          </a:p>
          <a:p>
            <a:pPr indent="0">
              <a:spcBef>
                <a:spcPts val="0"/>
              </a:spcBef>
              <a:buNone/>
            </a:pPr>
            <a:r>
              <a:rPr lang="en-US" sz="1800" b="0" dirty="0">
                <a:latin typeface="Aptos"/>
                <a:ea typeface="+mn-lt"/>
                <a:cs typeface="+mn-lt"/>
              </a:rPr>
              <a:t>The sign indicates direction (positive increases risk, negative decreases)</a:t>
            </a:r>
          </a:p>
          <a:p>
            <a:pPr indent="0">
              <a:spcBef>
                <a:spcPts val="0"/>
              </a:spcBef>
              <a:buNone/>
            </a:pPr>
            <a:endParaRPr lang="en-US" sz="1800" b="0" dirty="0">
              <a:latin typeface="Aptos"/>
              <a:ea typeface="+mn-lt"/>
              <a:cs typeface="+mn-lt"/>
            </a:endParaRPr>
          </a:p>
          <a:p>
            <a:pPr indent="0">
              <a:spcBef>
                <a:spcPts val="0"/>
              </a:spcBef>
              <a:buNone/>
            </a:pPr>
            <a:r>
              <a:rPr lang="en-US" sz="1800" b="0" dirty="0">
                <a:latin typeface="Aptos"/>
                <a:ea typeface="+mn-lt"/>
                <a:cs typeface="+mn-lt"/>
              </a:rPr>
              <a:t>For every 1-unit increase in the metric (e.g., +1 mmHg in BP, +1 mg/dL glucose, +1°F temperature), the risk score changes by the coefficient amount.</a:t>
            </a:r>
          </a:p>
          <a:p>
            <a:pPr indent="0">
              <a:buNone/>
            </a:pPr>
            <a:endParaRPr lang="en-US" sz="2650" b="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1183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150C4-ED93-DCB8-D311-5F5248A1F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7FD271-75AD-6157-086E-AAE06ACBA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21920" tIns="60960" rIns="121920" bIns="60960" anchor="b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Open Sans"/>
                <a:ea typeface="Open Sans"/>
                <a:cs typeface="Open Sans"/>
              </a:rPr>
              <a:t>CREATE PREDICTIVE FUNCTION</a:t>
            </a:r>
            <a:endParaRPr lang="en-US" dirty="0">
              <a:latin typeface="Open San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D1554-485F-907E-C375-B40069648A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7231" y="2214423"/>
            <a:ext cx="10929485" cy="3881578"/>
          </a:xfr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456565">
              <a:buNone/>
            </a:pPr>
            <a:r>
              <a:rPr lang="en-US" sz="1400" b="0" dirty="0">
                <a:solidFill>
                  <a:srgbClr val="92D050"/>
                </a:solidFill>
                <a:ea typeface="+mn-lt"/>
                <a:cs typeface="+mn-lt"/>
              </a:rPr>
              <a:t># we can calculate the coefficients from the linear model for an equation that shows the weight (influence) of each predictor</a:t>
            </a:r>
            <a:endParaRPr lang="en-US" sz="1200" dirty="0">
              <a:solidFill>
                <a:srgbClr val="92D050"/>
              </a:solidFill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err="1">
                <a:ea typeface="+mn-lt"/>
                <a:cs typeface="+mn-lt"/>
              </a:rPr>
              <a:t>coef</a:t>
            </a:r>
            <a:r>
              <a:rPr lang="en-US" sz="1400" b="0" dirty="0">
                <a:ea typeface="+mn-lt"/>
                <a:cs typeface="+mn-lt"/>
              </a:rPr>
              <a:t>(</a:t>
            </a:r>
            <a:r>
              <a:rPr lang="en-US" sz="1400" b="0" err="1">
                <a:ea typeface="+mn-lt"/>
                <a:cs typeface="+mn-lt"/>
              </a:rPr>
              <a:t>maternal_model</a:t>
            </a:r>
            <a:r>
              <a:rPr lang="en-US" sz="1400" b="0" dirty="0">
                <a:ea typeface="+mn-lt"/>
                <a:cs typeface="+mn-lt"/>
              </a:rPr>
              <a:t>)</a:t>
            </a:r>
            <a:endParaRPr lang="en-US" sz="1200" dirty="0">
              <a:ea typeface="Calibri"/>
              <a:cs typeface="Calibri"/>
            </a:endParaRPr>
          </a:p>
          <a:p>
            <a:pPr indent="-456565">
              <a:buNone/>
            </a:pPr>
            <a:endParaRPr lang="en-US" sz="1400" b="0" dirty="0">
              <a:ea typeface="Calibri"/>
              <a:cs typeface="Calibri"/>
            </a:endParaRPr>
          </a:p>
          <a:p>
            <a:pPr indent="-456565">
              <a:buNone/>
            </a:pPr>
            <a:endParaRPr lang="en-US" sz="1400" b="0" dirty="0">
              <a:solidFill>
                <a:srgbClr val="4B2E83"/>
              </a:solidFill>
              <a:ea typeface="+mn-lt"/>
              <a:cs typeface="+mn-lt"/>
            </a:endParaRPr>
          </a:p>
          <a:p>
            <a:pPr indent="-456565">
              <a:buNone/>
            </a:pPr>
            <a:endParaRPr lang="en-US" sz="1400" b="0" dirty="0">
              <a:solidFill>
                <a:srgbClr val="4B2E83"/>
              </a:solidFill>
              <a:ea typeface="+mn-lt"/>
              <a:cs typeface="+mn-lt"/>
            </a:endParaRPr>
          </a:p>
          <a:p>
            <a:pPr indent="-456565">
              <a:buNone/>
            </a:pPr>
            <a:r>
              <a:rPr lang="en-US" sz="1400" b="0" dirty="0">
                <a:solidFill>
                  <a:srgbClr val="92D050"/>
                </a:solidFill>
                <a:ea typeface="+mn-lt"/>
                <a:cs typeface="+mn-lt"/>
              </a:rPr>
              <a:t># create a function to plug in metrics to predict risk</a:t>
            </a:r>
            <a:endParaRPr lang="en-US" sz="1200" dirty="0">
              <a:solidFill>
                <a:srgbClr val="92D050"/>
              </a:solidFill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 err="1">
                <a:ea typeface="+mn-lt"/>
                <a:cs typeface="+mn-lt"/>
              </a:rPr>
              <a:t>predict_risk</a:t>
            </a:r>
            <a:r>
              <a:rPr lang="en-US" sz="1400" b="0" dirty="0">
                <a:ea typeface="+mn-lt"/>
                <a:cs typeface="+mn-lt"/>
              </a:rPr>
              <a:t> &lt;- function(Age, </a:t>
            </a:r>
            <a:r>
              <a:rPr lang="en-US" sz="1400" b="0" dirty="0" err="1">
                <a:ea typeface="+mn-lt"/>
                <a:cs typeface="+mn-lt"/>
              </a:rPr>
              <a:t>SystolicBP</a:t>
            </a:r>
            <a:r>
              <a:rPr lang="en-US" sz="1400" b="0" dirty="0">
                <a:ea typeface="+mn-lt"/>
                <a:cs typeface="+mn-lt"/>
              </a:rPr>
              <a:t>, </a:t>
            </a:r>
            <a:r>
              <a:rPr lang="en-US" sz="1400" b="0" dirty="0" err="1">
                <a:ea typeface="+mn-lt"/>
                <a:cs typeface="+mn-lt"/>
              </a:rPr>
              <a:t>DiastolicBP</a:t>
            </a:r>
            <a:r>
              <a:rPr lang="en-US" sz="1400" b="0" dirty="0">
                <a:ea typeface="+mn-lt"/>
                <a:cs typeface="+mn-lt"/>
              </a:rPr>
              <a:t>, </a:t>
            </a:r>
            <a:r>
              <a:rPr lang="en-US" sz="1400" b="0" dirty="0" err="1">
                <a:ea typeface="+mn-lt"/>
                <a:cs typeface="+mn-lt"/>
              </a:rPr>
              <a:t>BloodGlucose</a:t>
            </a:r>
            <a:r>
              <a:rPr lang="en-US" sz="1400" b="0" dirty="0">
                <a:ea typeface="+mn-lt"/>
                <a:cs typeface="+mn-lt"/>
              </a:rPr>
              <a:t>, </a:t>
            </a:r>
            <a:r>
              <a:rPr lang="en-US" sz="1400" b="0" dirty="0" err="1">
                <a:ea typeface="+mn-lt"/>
                <a:cs typeface="+mn-lt"/>
              </a:rPr>
              <a:t>BodyTemp</a:t>
            </a:r>
            <a:r>
              <a:rPr lang="en-US" sz="1400" b="0" dirty="0">
                <a:ea typeface="+mn-lt"/>
                <a:cs typeface="+mn-lt"/>
              </a:rPr>
              <a:t>, </a:t>
            </a:r>
            <a:r>
              <a:rPr lang="en-US" sz="1400" b="0" dirty="0" err="1">
                <a:ea typeface="+mn-lt"/>
                <a:cs typeface="+mn-lt"/>
              </a:rPr>
              <a:t>HeartRate</a:t>
            </a:r>
            <a:r>
              <a:rPr lang="en-US" sz="1400" b="0" dirty="0">
                <a:ea typeface="+mn-lt"/>
                <a:cs typeface="+mn-lt"/>
              </a:rPr>
              <a:t>) {</a:t>
            </a:r>
            <a:endParaRPr lang="en-US" sz="1200" dirty="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>
                <a:ea typeface="+mn-lt"/>
                <a:cs typeface="+mn-lt"/>
              </a:rPr>
              <a:t>  -18.68303 + (-0.0005867 * Age) + (0.01201164 * </a:t>
            </a:r>
            <a:r>
              <a:rPr lang="en-US" sz="1400" b="0" dirty="0" err="1">
                <a:ea typeface="+mn-lt"/>
                <a:cs typeface="+mn-lt"/>
              </a:rPr>
              <a:t>SystolicBP</a:t>
            </a:r>
            <a:r>
              <a:rPr lang="en-US" sz="1400" b="0" dirty="0">
                <a:ea typeface="+mn-lt"/>
                <a:cs typeface="+mn-lt"/>
              </a:rPr>
              <a:t>) + (0.0008868 * </a:t>
            </a:r>
            <a:r>
              <a:rPr lang="en-US" sz="1400" b="0" dirty="0" err="1">
                <a:ea typeface="+mn-lt"/>
                <a:cs typeface="+mn-lt"/>
              </a:rPr>
              <a:t>DiastolicBP</a:t>
            </a:r>
            <a:r>
              <a:rPr lang="en-US" sz="1400" b="0" dirty="0">
                <a:ea typeface="+mn-lt"/>
                <a:cs typeface="+mn-lt"/>
              </a:rPr>
              <a:t>) + (0.1140881 * </a:t>
            </a:r>
            <a:r>
              <a:rPr lang="en-US" sz="1400" b="0" dirty="0" err="1">
                <a:ea typeface="+mn-lt"/>
                <a:cs typeface="+mn-lt"/>
              </a:rPr>
              <a:t>BloodGlucose</a:t>
            </a:r>
            <a:r>
              <a:rPr lang="en-US" sz="1400" b="0" dirty="0">
                <a:ea typeface="+mn-lt"/>
                <a:cs typeface="+mn-lt"/>
              </a:rPr>
              <a:t>) + (0.1656677 * </a:t>
            </a:r>
            <a:r>
              <a:rPr lang="en-US" sz="1400" b="0" dirty="0" err="1">
                <a:ea typeface="+mn-lt"/>
                <a:cs typeface="+mn-lt"/>
              </a:rPr>
              <a:t>BodyTemp</a:t>
            </a:r>
            <a:r>
              <a:rPr lang="en-US" sz="1400" b="0" dirty="0">
                <a:ea typeface="+mn-lt"/>
                <a:cs typeface="+mn-lt"/>
              </a:rPr>
              <a:t>) +</a:t>
            </a:r>
            <a:endParaRPr lang="en-US" sz="1200" dirty="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>
                <a:ea typeface="+mn-lt"/>
                <a:cs typeface="+mn-lt"/>
              </a:rPr>
              <a:t>    (0.0107635 * </a:t>
            </a:r>
            <a:r>
              <a:rPr lang="en-US" sz="1400" b="0" err="1">
                <a:ea typeface="+mn-lt"/>
                <a:cs typeface="+mn-lt"/>
              </a:rPr>
              <a:t>HeartRate</a:t>
            </a:r>
            <a:r>
              <a:rPr lang="en-US" sz="1400" b="0" dirty="0">
                <a:ea typeface="+mn-lt"/>
                <a:cs typeface="+mn-lt"/>
              </a:rPr>
              <a:t>)</a:t>
            </a:r>
            <a:endParaRPr lang="en-US" sz="1200" dirty="0">
              <a:ea typeface="Calibri"/>
              <a:cs typeface="Calibri"/>
            </a:endParaRPr>
          </a:p>
          <a:p>
            <a:pPr indent="0">
              <a:buNone/>
            </a:pPr>
            <a:r>
              <a:rPr lang="en-US" sz="1400" b="0" dirty="0">
                <a:ea typeface="+mn-lt"/>
                <a:cs typeface="+mn-lt"/>
              </a:rPr>
              <a:t>}</a:t>
            </a:r>
            <a:endParaRPr lang="en-US" sz="1200" dirty="0">
              <a:ea typeface="+mn-lt"/>
              <a:cs typeface="+mn-lt"/>
            </a:endParaRPr>
          </a:p>
          <a:p>
            <a:pPr indent="0">
              <a:buNone/>
            </a:pPr>
            <a:endParaRPr lang="en-US" sz="1400" b="0" dirty="0">
              <a:ea typeface="Calibri"/>
              <a:cs typeface="Calibri"/>
            </a:endParaRPr>
          </a:p>
          <a:p>
            <a:pPr indent="0">
              <a:buNone/>
            </a:pPr>
            <a:r>
              <a:rPr lang="en-US" sz="1400" b="0" dirty="0">
                <a:solidFill>
                  <a:srgbClr val="92D050"/>
                </a:solidFill>
                <a:ea typeface="+mn-lt"/>
                <a:cs typeface="+mn-lt"/>
              </a:rPr>
              <a:t># example</a:t>
            </a:r>
          </a:p>
          <a:p>
            <a:pPr indent="-456565">
              <a:buNone/>
            </a:pPr>
            <a:r>
              <a:rPr lang="en-US" sz="1400" b="0" err="1">
                <a:ea typeface="+mn-lt"/>
                <a:cs typeface="+mn-lt"/>
              </a:rPr>
              <a:t>predict_risk</a:t>
            </a:r>
            <a:r>
              <a:rPr lang="en-US" sz="1400" b="0" dirty="0">
                <a:ea typeface="+mn-lt"/>
                <a:cs typeface="+mn-lt"/>
              </a:rPr>
              <a:t>(Age = 35, </a:t>
            </a:r>
            <a:r>
              <a:rPr lang="en-US" sz="1400" b="0" err="1">
                <a:ea typeface="+mn-lt"/>
                <a:cs typeface="+mn-lt"/>
              </a:rPr>
              <a:t>SystolicBP</a:t>
            </a:r>
            <a:r>
              <a:rPr lang="en-US" sz="1400" b="0" dirty="0">
                <a:ea typeface="+mn-lt"/>
                <a:cs typeface="+mn-lt"/>
              </a:rPr>
              <a:t> = 120, </a:t>
            </a:r>
            <a:r>
              <a:rPr lang="en-US" sz="1400" b="0" err="1">
                <a:ea typeface="+mn-lt"/>
                <a:cs typeface="+mn-lt"/>
              </a:rPr>
              <a:t>DiastolicBP</a:t>
            </a:r>
            <a:r>
              <a:rPr lang="en-US" sz="1400" b="0" dirty="0">
                <a:ea typeface="+mn-lt"/>
                <a:cs typeface="+mn-lt"/>
              </a:rPr>
              <a:t> = 90, </a:t>
            </a:r>
            <a:r>
              <a:rPr lang="en-US" sz="1400" b="0" err="1">
                <a:ea typeface="+mn-lt"/>
                <a:cs typeface="+mn-lt"/>
              </a:rPr>
              <a:t>BloodGlucose</a:t>
            </a:r>
            <a:r>
              <a:rPr lang="en-US" sz="1400" b="0" dirty="0">
                <a:ea typeface="+mn-lt"/>
                <a:cs typeface="+mn-lt"/>
              </a:rPr>
              <a:t> = 15, </a:t>
            </a:r>
            <a:r>
              <a:rPr lang="en-US" sz="1400" b="0" err="1">
                <a:ea typeface="+mn-lt"/>
                <a:cs typeface="+mn-lt"/>
              </a:rPr>
              <a:t>BodyTemp</a:t>
            </a:r>
            <a:r>
              <a:rPr lang="en-US" sz="1400" b="0" dirty="0">
                <a:ea typeface="+mn-lt"/>
                <a:cs typeface="+mn-lt"/>
              </a:rPr>
              <a:t> = 98, </a:t>
            </a:r>
            <a:r>
              <a:rPr lang="en-US" sz="1400" b="0" err="1">
                <a:ea typeface="+mn-lt"/>
                <a:cs typeface="+mn-lt"/>
              </a:rPr>
              <a:t>HeartRate</a:t>
            </a:r>
            <a:r>
              <a:rPr lang="en-US" sz="1400" b="0" dirty="0">
                <a:ea typeface="+mn-lt"/>
                <a:cs typeface="+mn-lt"/>
              </a:rPr>
              <a:t> = 85)</a:t>
            </a:r>
            <a:endParaRPr lang="en-US" dirty="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>
                <a:solidFill>
                  <a:srgbClr val="0070C0"/>
                </a:solidFill>
                <a:ea typeface="+mn-lt"/>
                <a:cs typeface="+mn-lt"/>
              </a:rPr>
              <a:t> &gt; 1.87</a:t>
            </a:r>
          </a:p>
          <a:p>
            <a:pPr indent="0">
              <a:buNone/>
            </a:pPr>
            <a:r>
              <a:rPr lang="en-US" sz="1400" b="0" dirty="0">
                <a:ea typeface="+mn-lt"/>
                <a:cs typeface="+mn-lt"/>
              </a:rPr>
              <a:t>round(</a:t>
            </a:r>
            <a:r>
              <a:rPr lang="en-US" sz="1400" b="0" err="1">
                <a:ea typeface="+mn-lt"/>
                <a:cs typeface="+mn-lt"/>
              </a:rPr>
              <a:t>predict_risk</a:t>
            </a:r>
            <a:r>
              <a:rPr lang="en-US" sz="1400" b="0" dirty="0">
                <a:ea typeface="+mn-lt"/>
                <a:cs typeface="+mn-lt"/>
              </a:rPr>
              <a:t>(35, 120, 75, 15, 98, 85))</a:t>
            </a:r>
          </a:p>
          <a:p>
            <a:pPr indent="0">
              <a:buNone/>
            </a:pPr>
            <a:r>
              <a:rPr lang="en-US" sz="1400" b="0" dirty="0">
                <a:solidFill>
                  <a:srgbClr val="0070C0"/>
                </a:solidFill>
                <a:ea typeface="Calibri"/>
                <a:cs typeface="Calibri"/>
              </a:rPr>
              <a:t> &gt; 2</a:t>
            </a:r>
          </a:p>
        </p:txBody>
      </p:sp>
      <p:pic>
        <p:nvPicPr>
          <p:cNvPr id="2" name="Picture 1" descr="A number on a white background&#10;&#10;AI-generated content may be incorrect.">
            <a:extLst>
              <a:ext uri="{FF2B5EF4-FFF2-40B4-BE49-F238E27FC236}">
                <a16:creationId xmlns:a16="http://schemas.microsoft.com/office/drawing/2014/main" id="{6B23964E-8DC4-A4D0-9803-A1D4F6F73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12" y="2950543"/>
            <a:ext cx="8994798" cy="33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960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44477-62DC-CF75-60B4-30CE8C7EC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760F75-7D3E-C861-A3E0-992347E22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21920" tIns="60960" rIns="121920" bIns="60960" anchor="b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Open Sans"/>
                <a:ea typeface="Open Sans"/>
                <a:cs typeface="Open Sans"/>
              </a:rPr>
              <a:t>FIT LINEAR MODELS FOR EACH METRIC COMPARED TO AGE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435A0-D29C-A608-BF80-E6CE5D120C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7231" y="2214423"/>
            <a:ext cx="10929485" cy="3881578"/>
          </a:xfr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456565">
              <a:buNone/>
            </a:pPr>
            <a:r>
              <a:rPr lang="en-US" sz="1400" b="0" dirty="0">
                <a:solidFill>
                  <a:srgbClr val="92D050"/>
                </a:solidFill>
                <a:ea typeface="+mn-lt"/>
                <a:cs typeface="+mn-lt"/>
              </a:rPr>
              <a:t># Create linear model for metrics over age, then predict with confidence interval and plot</a:t>
            </a:r>
            <a:endParaRPr lang="en-US" sz="1200" dirty="0">
              <a:solidFill>
                <a:srgbClr val="92D050"/>
              </a:solidFill>
              <a:ea typeface="Calibri"/>
              <a:cs typeface="Calibri"/>
            </a:endParaRPr>
          </a:p>
          <a:p>
            <a:pPr indent="-456565">
              <a:buNone/>
            </a:pPr>
            <a:endParaRPr lang="en-US" sz="1200" dirty="0">
              <a:solidFill>
                <a:srgbClr val="92D050"/>
              </a:solidFill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>
                <a:solidFill>
                  <a:srgbClr val="92D050"/>
                </a:solidFill>
                <a:ea typeface="+mn-lt"/>
                <a:cs typeface="+mn-lt"/>
              </a:rPr>
              <a:t># </a:t>
            </a:r>
            <a:r>
              <a:rPr lang="en-US" sz="1400" b="0" err="1">
                <a:solidFill>
                  <a:srgbClr val="92D050"/>
                </a:solidFill>
                <a:ea typeface="+mn-lt"/>
                <a:cs typeface="+mn-lt"/>
              </a:rPr>
              <a:t>SystolicBP</a:t>
            </a:r>
            <a:r>
              <a:rPr lang="en-US" sz="1400" b="0" dirty="0">
                <a:solidFill>
                  <a:srgbClr val="92D050"/>
                </a:solidFill>
                <a:ea typeface="+mn-lt"/>
                <a:cs typeface="+mn-lt"/>
              </a:rPr>
              <a:t> vs Age</a:t>
            </a:r>
            <a:endParaRPr lang="en-US" sz="1200" dirty="0">
              <a:solidFill>
                <a:srgbClr val="92D050"/>
              </a:solidFill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 err="1">
                <a:ea typeface="+mn-lt"/>
                <a:cs typeface="+mn-lt"/>
              </a:rPr>
              <a:t>lm_sys</a:t>
            </a:r>
            <a:r>
              <a:rPr lang="en-US" sz="1400" b="0" dirty="0">
                <a:ea typeface="+mn-lt"/>
                <a:cs typeface="+mn-lt"/>
              </a:rPr>
              <a:t> &lt;- </a:t>
            </a:r>
            <a:r>
              <a:rPr lang="en-US" sz="1400" b="0" dirty="0" err="1">
                <a:ea typeface="+mn-lt"/>
                <a:cs typeface="+mn-lt"/>
              </a:rPr>
              <a:t>lm</a:t>
            </a:r>
            <a:r>
              <a:rPr lang="en-US" sz="1400" b="0" dirty="0">
                <a:ea typeface="+mn-lt"/>
                <a:cs typeface="+mn-lt"/>
              </a:rPr>
              <a:t>(</a:t>
            </a:r>
            <a:r>
              <a:rPr lang="en-US" sz="1400" b="0" dirty="0" err="1">
                <a:ea typeface="+mn-lt"/>
                <a:cs typeface="+mn-lt"/>
              </a:rPr>
              <a:t>SystolicBP</a:t>
            </a:r>
            <a:r>
              <a:rPr lang="en-US" sz="1400" b="0" dirty="0">
                <a:ea typeface="+mn-lt"/>
                <a:cs typeface="+mn-lt"/>
              </a:rPr>
              <a:t> ~ Age, data = </a:t>
            </a:r>
            <a:r>
              <a:rPr lang="en-US" sz="1400" b="0" dirty="0" err="1">
                <a:ea typeface="+mn-lt"/>
                <a:cs typeface="+mn-lt"/>
              </a:rPr>
              <a:t>maternal_dt</a:t>
            </a:r>
            <a:r>
              <a:rPr lang="en-US" sz="1400" b="0" dirty="0">
                <a:ea typeface="+mn-lt"/>
                <a:cs typeface="+mn-lt"/>
              </a:rPr>
              <a:t>)</a:t>
            </a:r>
            <a:endParaRPr lang="en-US" sz="1200" dirty="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 err="1">
                <a:ea typeface="+mn-lt"/>
                <a:cs typeface="+mn-lt"/>
              </a:rPr>
              <a:t>pred_sys</a:t>
            </a:r>
            <a:r>
              <a:rPr lang="en-US" sz="1400" b="0" dirty="0">
                <a:ea typeface="+mn-lt"/>
                <a:cs typeface="+mn-lt"/>
              </a:rPr>
              <a:t> &lt;- predict(</a:t>
            </a:r>
            <a:r>
              <a:rPr lang="en-US" sz="1400" b="0" dirty="0" err="1">
                <a:ea typeface="+mn-lt"/>
                <a:cs typeface="+mn-lt"/>
              </a:rPr>
              <a:t>lm_sys</a:t>
            </a:r>
            <a:r>
              <a:rPr lang="en-US" sz="1400" b="0" dirty="0">
                <a:ea typeface="+mn-lt"/>
                <a:cs typeface="+mn-lt"/>
              </a:rPr>
              <a:t>, interval = "confidence")</a:t>
            </a:r>
            <a:endParaRPr lang="en-US" sz="1200" dirty="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>
                <a:ea typeface="+mn-lt"/>
                <a:cs typeface="+mn-lt"/>
              </a:rPr>
              <a:t>summary(</a:t>
            </a:r>
            <a:r>
              <a:rPr lang="en-US" sz="1400" b="0" dirty="0" err="1">
                <a:ea typeface="+mn-lt"/>
                <a:cs typeface="+mn-lt"/>
              </a:rPr>
              <a:t>lm_sys</a:t>
            </a:r>
            <a:r>
              <a:rPr lang="en-US" sz="1400" b="0" dirty="0">
                <a:ea typeface="+mn-lt"/>
                <a:cs typeface="+mn-lt"/>
              </a:rPr>
              <a:t>)</a:t>
            </a:r>
            <a:endParaRPr lang="en-US" sz="1200" dirty="0">
              <a:ea typeface="Calibri"/>
              <a:cs typeface="Calibri"/>
            </a:endParaRPr>
          </a:p>
          <a:p>
            <a:pPr indent="-456565">
              <a:buNone/>
            </a:pPr>
            <a:endParaRPr lang="en-US" sz="120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 err="1">
                <a:ea typeface="+mn-lt"/>
                <a:cs typeface="+mn-lt"/>
              </a:rPr>
              <a:t>ggplot</a:t>
            </a:r>
            <a:r>
              <a:rPr lang="en-US" sz="1400" b="0" dirty="0">
                <a:ea typeface="+mn-lt"/>
                <a:cs typeface="+mn-lt"/>
              </a:rPr>
              <a:t>(</a:t>
            </a:r>
            <a:r>
              <a:rPr lang="en-US" sz="1400" b="0" dirty="0" err="1">
                <a:ea typeface="+mn-lt"/>
                <a:cs typeface="+mn-lt"/>
              </a:rPr>
              <a:t>maternal_dt</a:t>
            </a:r>
            <a:r>
              <a:rPr lang="en-US" sz="1400" b="0" dirty="0">
                <a:ea typeface="+mn-lt"/>
                <a:cs typeface="+mn-lt"/>
              </a:rPr>
              <a:t>, </a:t>
            </a:r>
            <a:r>
              <a:rPr lang="en-US" sz="1400" b="0" dirty="0" err="1">
                <a:ea typeface="+mn-lt"/>
                <a:cs typeface="+mn-lt"/>
              </a:rPr>
              <a:t>aes</a:t>
            </a:r>
            <a:r>
              <a:rPr lang="en-US" sz="1400" b="0" dirty="0">
                <a:ea typeface="+mn-lt"/>
                <a:cs typeface="+mn-lt"/>
              </a:rPr>
              <a:t>(x = Age, y = </a:t>
            </a:r>
            <a:r>
              <a:rPr lang="en-US" sz="1400" b="0" dirty="0" err="1">
                <a:ea typeface="+mn-lt"/>
                <a:cs typeface="+mn-lt"/>
              </a:rPr>
              <a:t>SystolicBP</a:t>
            </a:r>
            <a:r>
              <a:rPr lang="en-US" sz="1400" b="0" dirty="0">
                <a:ea typeface="+mn-lt"/>
                <a:cs typeface="+mn-lt"/>
              </a:rPr>
              <a:t>)) +</a:t>
            </a:r>
            <a:endParaRPr lang="en-US" sz="1200" dirty="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>
                <a:ea typeface="+mn-lt"/>
                <a:cs typeface="+mn-lt"/>
              </a:rPr>
              <a:t>  </a:t>
            </a:r>
            <a:r>
              <a:rPr lang="en-US" sz="1400" b="0" dirty="0" err="1">
                <a:ea typeface="+mn-lt"/>
                <a:cs typeface="+mn-lt"/>
              </a:rPr>
              <a:t>geom_point</a:t>
            </a:r>
            <a:r>
              <a:rPr lang="en-US" sz="1400" b="0" dirty="0">
                <a:ea typeface="+mn-lt"/>
                <a:cs typeface="+mn-lt"/>
              </a:rPr>
              <a:t>(alpha = 0.5) +</a:t>
            </a:r>
            <a:endParaRPr lang="en-US" sz="1200" dirty="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>
                <a:ea typeface="+mn-lt"/>
                <a:cs typeface="+mn-lt"/>
              </a:rPr>
              <a:t>  </a:t>
            </a:r>
            <a:r>
              <a:rPr lang="en-US" sz="1400" b="0" dirty="0" err="1">
                <a:ea typeface="+mn-lt"/>
                <a:cs typeface="+mn-lt"/>
              </a:rPr>
              <a:t>geom_line</a:t>
            </a:r>
            <a:r>
              <a:rPr lang="en-US" sz="1400" b="0" dirty="0">
                <a:ea typeface="+mn-lt"/>
                <a:cs typeface="+mn-lt"/>
              </a:rPr>
              <a:t>(</a:t>
            </a:r>
            <a:r>
              <a:rPr lang="en-US" sz="1400" b="0" dirty="0" err="1">
                <a:ea typeface="+mn-lt"/>
                <a:cs typeface="+mn-lt"/>
              </a:rPr>
              <a:t>aes</a:t>
            </a:r>
            <a:r>
              <a:rPr lang="en-US" sz="1400" b="0" dirty="0">
                <a:ea typeface="+mn-lt"/>
                <a:cs typeface="+mn-lt"/>
              </a:rPr>
              <a:t>(y = </a:t>
            </a:r>
            <a:r>
              <a:rPr lang="en-US" sz="1400" b="0" dirty="0" err="1">
                <a:ea typeface="+mn-lt"/>
                <a:cs typeface="+mn-lt"/>
              </a:rPr>
              <a:t>pred_sys</a:t>
            </a:r>
            <a:r>
              <a:rPr lang="en-US" sz="1400" b="0" dirty="0">
                <a:ea typeface="+mn-lt"/>
                <a:cs typeface="+mn-lt"/>
              </a:rPr>
              <a:t>[, "fit"]), color = "red") +</a:t>
            </a:r>
            <a:endParaRPr lang="en-US" sz="1200" dirty="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>
                <a:ea typeface="+mn-lt"/>
                <a:cs typeface="+mn-lt"/>
              </a:rPr>
              <a:t>  </a:t>
            </a:r>
            <a:r>
              <a:rPr lang="en-US" sz="1400" b="0" dirty="0" err="1">
                <a:ea typeface="+mn-lt"/>
                <a:cs typeface="+mn-lt"/>
              </a:rPr>
              <a:t>geom_ribbon</a:t>
            </a:r>
            <a:r>
              <a:rPr lang="en-US" sz="1400" b="0" dirty="0">
                <a:ea typeface="+mn-lt"/>
                <a:cs typeface="+mn-lt"/>
              </a:rPr>
              <a:t>(</a:t>
            </a:r>
            <a:r>
              <a:rPr lang="en-US" sz="1400" b="0" dirty="0" err="1">
                <a:ea typeface="+mn-lt"/>
                <a:cs typeface="+mn-lt"/>
              </a:rPr>
              <a:t>aes</a:t>
            </a:r>
            <a:r>
              <a:rPr lang="en-US" sz="1400" b="0" dirty="0">
                <a:ea typeface="+mn-lt"/>
                <a:cs typeface="+mn-lt"/>
              </a:rPr>
              <a:t>(</a:t>
            </a:r>
            <a:r>
              <a:rPr lang="en-US" sz="1400" b="0" dirty="0" err="1">
                <a:ea typeface="+mn-lt"/>
                <a:cs typeface="+mn-lt"/>
              </a:rPr>
              <a:t>ymin</a:t>
            </a:r>
            <a:r>
              <a:rPr lang="en-US" sz="1400" b="0" dirty="0">
                <a:ea typeface="+mn-lt"/>
                <a:cs typeface="+mn-lt"/>
              </a:rPr>
              <a:t> = </a:t>
            </a:r>
            <a:r>
              <a:rPr lang="en-US" sz="1400" b="0" dirty="0" err="1">
                <a:ea typeface="+mn-lt"/>
                <a:cs typeface="+mn-lt"/>
              </a:rPr>
              <a:t>pred_sys</a:t>
            </a:r>
            <a:r>
              <a:rPr lang="en-US" sz="1400" b="0" dirty="0">
                <a:ea typeface="+mn-lt"/>
                <a:cs typeface="+mn-lt"/>
              </a:rPr>
              <a:t>[, "</a:t>
            </a:r>
            <a:r>
              <a:rPr lang="en-US" sz="1400" b="0" dirty="0" err="1">
                <a:ea typeface="+mn-lt"/>
                <a:cs typeface="+mn-lt"/>
              </a:rPr>
              <a:t>lwr</a:t>
            </a:r>
            <a:r>
              <a:rPr lang="en-US" sz="1400" b="0" dirty="0">
                <a:ea typeface="+mn-lt"/>
                <a:cs typeface="+mn-lt"/>
              </a:rPr>
              <a:t>"], </a:t>
            </a:r>
            <a:r>
              <a:rPr lang="en-US" sz="1400" b="0" dirty="0" err="1">
                <a:ea typeface="+mn-lt"/>
                <a:cs typeface="+mn-lt"/>
              </a:rPr>
              <a:t>ymax</a:t>
            </a:r>
            <a:r>
              <a:rPr lang="en-US" sz="1400" b="0" dirty="0">
                <a:ea typeface="+mn-lt"/>
                <a:cs typeface="+mn-lt"/>
              </a:rPr>
              <a:t> = </a:t>
            </a:r>
            <a:r>
              <a:rPr lang="en-US" sz="1400" b="0" dirty="0" err="1">
                <a:ea typeface="+mn-lt"/>
                <a:cs typeface="+mn-lt"/>
              </a:rPr>
              <a:t>pred_sys</a:t>
            </a:r>
            <a:r>
              <a:rPr lang="en-US" sz="1400" b="0" dirty="0">
                <a:ea typeface="+mn-lt"/>
                <a:cs typeface="+mn-lt"/>
              </a:rPr>
              <a:t>[, "</a:t>
            </a:r>
            <a:r>
              <a:rPr lang="en-US" sz="1400" b="0" dirty="0" err="1">
                <a:ea typeface="+mn-lt"/>
                <a:cs typeface="+mn-lt"/>
              </a:rPr>
              <a:t>upr</a:t>
            </a:r>
            <a:r>
              <a:rPr lang="en-US" sz="1400" b="0" dirty="0">
                <a:ea typeface="+mn-lt"/>
                <a:cs typeface="+mn-lt"/>
              </a:rPr>
              <a:t>"]), alpha = 0.3) +</a:t>
            </a:r>
            <a:endParaRPr lang="en-US" sz="1200" dirty="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dirty="0">
                <a:ea typeface="+mn-lt"/>
                <a:cs typeface="+mn-lt"/>
              </a:rPr>
              <a:t>  labs(title = "</a:t>
            </a:r>
            <a:r>
              <a:rPr lang="en-US" sz="1400" b="0" err="1">
                <a:ea typeface="+mn-lt"/>
                <a:cs typeface="+mn-lt"/>
              </a:rPr>
              <a:t>SystolicBP</a:t>
            </a:r>
            <a:r>
              <a:rPr lang="en-US" sz="1400" b="0" dirty="0">
                <a:ea typeface="+mn-lt"/>
                <a:cs typeface="+mn-lt"/>
              </a:rPr>
              <a:t> vs Age with 95% CI", x = "Age", y = "</a:t>
            </a:r>
            <a:r>
              <a:rPr lang="en-US" sz="1400" b="0" err="1">
                <a:ea typeface="+mn-lt"/>
                <a:cs typeface="+mn-lt"/>
              </a:rPr>
              <a:t>SystolicBP</a:t>
            </a:r>
            <a:r>
              <a:rPr lang="en-US" sz="1400" b="0" dirty="0">
                <a:ea typeface="+mn-lt"/>
                <a:cs typeface="+mn-lt"/>
              </a:rPr>
              <a:t>")</a:t>
            </a:r>
            <a:endParaRPr lang="en-US" sz="1200" dirty="0">
              <a:ea typeface="Calibri"/>
              <a:cs typeface="Calibri"/>
            </a:endParaRPr>
          </a:p>
          <a:p>
            <a:pPr indent="-456565">
              <a:buNone/>
            </a:pPr>
            <a:endParaRPr lang="en-US" sz="1200">
              <a:ea typeface="Calibri"/>
              <a:cs typeface="Calibri"/>
            </a:endParaRPr>
          </a:p>
          <a:p>
            <a:pPr indent="-456565">
              <a:buNone/>
            </a:pPr>
            <a:r>
              <a:rPr lang="en-US" sz="1400" b="0" err="1">
                <a:ea typeface="+mn-lt"/>
                <a:cs typeface="+mn-lt"/>
              </a:rPr>
              <a:t>ggsave</a:t>
            </a:r>
            <a:r>
              <a:rPr lang="en-US" sz="1400" b="0" dirty="0">
                <a:ea typeface="+mn-lt"/>
                <a:cs typeface="+mn-lt"/>
              </a:rPr>
              <a:t>("SystolicBP_vs_Age.png", width = 7, height = 5)</a:t>
            </a:r>
            <a:endParaRPr lang="en-US" sz="1200" dirty="0">
              <a:ea typeface="Calibri"/>
              <a:cs typeface="Calibri"/>
            </a:endParaRPr>
          </a:p>
          <a:p>
            <a:pPr indent="0">
              <a:buNone/>
            </a:pPr>
            <a:r>
              <a:rPr lang="en-US" sz="1400" b="0" err="1">
                <a:ea typeface="+mn-lt"/>
                <a:cs typeface="+mn-lt"/>
              </a:rPr>
              <a:t>shell.exec</a:t>
            </a:r>
            <a:r>
              <a:rPr lang="en-US" sz="1400" b="0" dirty="0">
                <a:ea typeface="+mn-lt"/>
                <a:cs typeface="+mn-lt"/>
              </a:rPr>
              <a:t>("SystolicBP_vs_Age.png")</a:t>
            </a:r>
            <a:endParaRPr lang="en-US" sz="1200" dirty="0"/>
          </a:p>
        </p:txBody>
      </p:sp>
      <p:pic>
        <p:nvPicPr>
          <p:cNvPr id="2" name="Picture 1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25A4446D-B486-7367-2D46-A7D57B34C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427" y="3975189"/>
            <a:ext cx="2705900" cy="1992924"/>
          </a:xfrm>
          <a:prstGeom prst="rect">
            <a:avLst/>
          </a:prstGeom>
        </p:spPr>
      </p:pic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A863C5D-BA3A-8BD5-8BF7-04C8A28A5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422" y="1988726"/>
            <a:ext cx="3385772" cy="179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80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B9AD3-BD7C-B552-2BEE-511FDDD01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301E39-119B-EABC-5A30-645E69D8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21920" tIns="60960" rIns="121920" bIns="60960" anchor="b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Open Sans"/>
              </a:rPr>
              <a:t>FIT LINEAR MODELS FOR EACH METRIC COMPARED TO AGE</a:t>
            </a:r>
          </a:p>
        </p:txBody>
      </p:sp>
      <p:pic>
        <p:nvPicPr>
          <p:cNvPr id="5" name="Picture 4" descr="A graph with a line graph and a line graph&#10;&#10;AI-generated content may be incorrect.">
            <a:extLst>
              <a:ext uri="{FF2B5EF4-FFF2-40B4-BE49-F238E27FC236}">
                <a16:creationId xmlns:a16="http://schemas.microsoft.com/office/drawing/2014/main" id="{B32DD1DC-13DB-C38C-90ED-DC8B748E1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245" y="2130380"/>
            <a:ext cx="2947116" cy="20928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5264E8-24D9-AE7E-BE06-94E95231D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420" y="4494190"/>
            <a:ext cx="2957850" cy="2076720"/>
          </a:xfrm>
          <a:prstGeom prst="rect">
            <a:avLst/>
          </a:prstGeom>
        </p:spPr>
      </p:pic>
      <p:pic>
        <p:nvPicPr>
          <p:cNvPr id="7" name="Picture 6" descr="A graph with a line and a red line&#10;&#10;AI-generated content may be incorrect.">
            <a:extLst>
              <a:ext uri="{FF2B5EF4-FFF2-40B4-BE49-F238E27FC236}">
                <a16:creationId xmlns:a16="http://schemas.microsoft.com/office/drawing/2014/main" id="{DFBE8AB9-55EC-68A9-A53F-2F6A239ED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794" y="4496871"/>
            <a:ext cx="2947116" cy="2076720"/>
          </a:xfrm>
          <a:prstGeom prst="rect">
            <a:avLst/>
          </a:prstGeom>
        </p:spPr>
      </p:pic>
      <p:pic>
        <p:nvPicPr>
          <p:cNvPr id="8" name="Picture 7" descr="A graph with black dots and red line&#10;&#10;AI-generated content may be incorrect.">
            <a:extLst>
              <a:ext uri="{FF2B5EF4-FFF2-40B4-BE49-F238E27FC236}">
                <a16:creationId xmlns:a16="http://schemas.microsoft.com/office/drawing/2014/main" id="{FB11C4D9-D776-D390-06E3-4300FD489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1420" y="2127697"/>
            <a:ext cx="2952482" cy="2087451"/>
          </a:xfrm>
          <a:prstGeom prst="rect">
            <a:avLst/>
          </a:prstGeom>
        </p:spPr>
      </p:pic>
      <p:pic>
        <p:nvPicPr>
          <p:cNvPr id="9" name="Picture 8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7BAF8634-460F-DBA8-91AC-7083715848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794" y="2130380"/>
            <a:ext cx="2952483" cy="208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349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AFDC7-F974-20C0-BC9E-3590E4B9D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5AD15B-79B1-2AB8-5E38-037E797740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dirty="0">
                <a:latin typeface="Open Sans"/>
                <a:ea typeface="Open Sans"/>
                <a:cs typeface="Open Sans"/>
              </a:rPr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517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Custom Design">
  <a:themeElements>
    <a:clrScheme name="Custom 2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office theme</vt:lpstr>
      <vt:lpstr>Custom Design</vt:lpstr>
      <vt:lpstr>1_Custom Design</vt:lpstr>
      <vt:lpstr>Final Project: Maternal Health Risk Data</vt:lpstr>
      <vt:lpstr>OBJECTIVE</vt:lpstr>
      <vt:lpstr>DATA SET AND SOURCE</vt:lpstr>
      <vt:lpstr>LOAD DATA SET AND DATA CLEANING</vt:lpstr>
      <vt:lpstr>GENERATE SUMMARY STATISTICS</vt:lpstr>
      <vt:lpstr>RESHAPE THE DATA</vt:lpstr>
      <vt:lpstr>DATA VISUALIZATION</vt:lpstr>
      <vt:lpstr>BUILD LINEAR REGRESSION MODEL</vt:lpstr>
      <vt:lpstr>INTERPRETING LINEAR REGRESSION MODEL</vt:lpstr>
      <vt:lpstr>CREATE PREDICTIVE FUNCTION</vt:lpstr>
      <vt:lpstr>FIT LINEAR MODELS FOR EACH METRIC COMPARED TO AGE</vt:lpstr>
      <vt:lpstr>FIT LINEAR MODELS FOR EACH METRIC COMPARED TO AGE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334</cp:revision>
  <dcterms:created xsi:type="dcterms:W3CDTF">2025-12-08T05:56:32Z</dcterms:created>
  <dcterms:modified xsi:type="dcterms:W3CDTF">2025-12-08T08:10:54Z</dcterms:modified>
</cp:coreProperties>
</file>